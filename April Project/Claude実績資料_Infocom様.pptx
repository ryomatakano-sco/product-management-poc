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自己紹介。稼働中のプロジェクトでClaudeを実作業ツールとして初期から活用し、実際の成果物を作ってきたことを紹介する資料。機密配慮のため内容は一般化している。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全体像。4つの領域（データ分析・コード開発/PoC・QA・ドキュメント）でClaudeを活用。効果は半分以上の工数削減、代表例で7日→2日。機密は事前に秘匿・匿名化して活用した点を必ず伝える。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プロジェクトの時系列。2025年10月から現在まで4フェーズ。重要メッセージ：Claudeの機能は最初から全部あったのではなく、順次追加され、それに合わせて活用を広げた（チャット→コード生成→Claude Code→Design/Cowork）。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活用方法の総論。5領域それぞれで具体的に何をしたか。QAではClaude Codeがデータフローを追ってセキュリティ問題や抜け穴を検出した点、機密は必ず事前除去した点を強調。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Claudeの主な機能①。チャット／プロジェクト&amp;メモリ／アーティファクト／Claude Design／Cowork／Claude Code。私が実作業で使った中心的なツール群。全機能が最初からあったわけではなく、順次取り入れた点を補足。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Claudeの主な機能②。Skills／Connectors(MCP)／Plugins／Cowork定期実行／Agents。ツールを拡張・自動化・チーム共有する仕組み。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物①。生成AI音声の電話応答を自動テストする仕組み。ポイント：テスト実行そのものは実際の通話なので時間は変わらないが、テスト基盤・スクリプトの構築工数が大幅減（約5日→2日）。以後は繰り返し自動実行でき、手動テストの手間を削減。クライアント名・製品名は伏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成果物②（数値の目玉）。AIの商品自動取得が別商品を返す/遅い/著作権懸念という問題をClaude Codeで診断し修正。誤商品12%→1〜3%、未検出2分→7〜10秒、再検索はキャッシュでAI呼び出しゼロ、著作権懸念も解消。原因調査から修正まで約4日→1.5日。実測値。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成果物③。約50万件規模の予約データ分析と、日英の報告書・PoC資料作成。分析～日英レポートが約2週間相当→約4日。物販の提案文は1件約1円で、数分〜十数分の手作業を代替。データは秘匿化済み。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物④（自主的な取り組み・任意）。社内のライン別会議向けにClaude勉強会一式を制作。Cowork/Design/Artifactsで制作、吹替のみElevenLabs。資料一式が数日相当→約1日。Claudeの活用力に加え、社内展開・教育の姿勢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まとめ。実プロジェクトでの成果物ベースの実績、機密配慮の安全な活用、そしてInfocom様の業務効率化を成果物制作から社内展開まで実践的に支援できること。効果は工数半分以上削減（例7日→2日）。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D"/>
        </a:solidFill>
      </p:bgPr>
    </p:bg>
    <p:spTree>
      <p:nvGrpSpPr>
        <p:cNvPr id="1" name=""/>
        <p:cNvGrpSpPr/>
        <p:nvPr/>
      </p:nvGrpSpPr>
      <p:grpSpPr>
        <a:xfrm>
          <a:off x="0" y="0"/>
          <a:ext cx="0" cy="0"/>
          <a:chOff x="0" y="0"/>
          <a:chExt cx="0" cy="0"/>
        </a:xfrm>
      </p:grpSpPr>
      <p:sp>
        <p:nvSpPr>
          <p:cNvPr id="2" name="Shape 0"/>
          <p:cNvSpPr/>
          <p:nvPr/>
        </p:nvSpPr>
        <p:spPr>
          <a:xfrm>
            <a:off x="9418320" y="-1554480"/>
            <a:ext cx="4389120" cy="4389120"/>
          </a:xfrm>
          <a:prstGeom prst="ellipse">
            <a:avLst/>
          </a:prstGeom>
          <a:solidFill>
            <a:srgbClr val="22355C"/>
          </a:solidFill>
          <a:ln/>
        </p:spPr>
      </p:sp>
      <p:sp>
        <p:nvSpPr>
          <p:cNvPr id="3" name="Shape 1"/>
          <p:cNvSpPr/>
          <p:nvPr/>
        </p:nvSpPr>
        <p:spPr>
          <a:xfrm>
            <a:off x="10698480" y="4389120"/>
            <a:ext cx="3291840" cy="3291840"/>
          </a:xfrm>
          <a:prstGeom prst="ellipse">
            <a:avLst/>
          </a:prstGeom>
          <a:solidFill>
            <a:srgbClr val="22355C"/>
          </a:solidFill>
          <a:ln/>
        </p:spPr>
      </p:sp>
      <p:sp>
        <p:nvSpPr>
          <p:cNvPr id="4" name="Shape 2"/>
          <p:cNvSpPr/>
          <p:nvPr/>
        </p:nvSpPr>
        <p:spPr>
          <a:xfrm>
            <a:off x="822960" y="777240"/>
            <a:ext cx="1051560" cy="1051560"/>
          </a:xfrm>
          <a:prstGeom prst="ellipse">
            <a:avLst/>
          </a:prstGeom>
          <a:solidFill>
            <a:srgbClr val="C0603A"/>
          </a:solidFill>
          <a:ln/>
        </p:spPr>
      </p:sp>
      <p:pic>
        <p:nvPicPr>
          <p:cNvPr id="5" name="Image 0" descr="preencoded.png">    </p:cNvPr>
          <p:cNvPicPr>
            <a:picLocks noChangeAspect="1"/>
          </p:cNvPicPr>
          <p:nvPr/>
        </p:nvPicPr>
        <p:blipFill>
          <a:blip r:embed="rId1"/>
          <a:stretch>
            <a:fillRect/>
          </a:stretch>
        </p:blipFill>
        <p:spPr>
          <a:xfrm>
            <a:off x="1096366" y="1050646"/>
            <a:ext cx="504749" cy="504749"/>
          </a:xfrm>
          <a:prstGeom prst="rect">
            <a:avLst/>
          </a:prstGeom>
        </p:spPr>
      </p:pic>
      <p:sp>
        <p:nvSpPr>
          <p:cNvPr id="6" name="Text 3"/>
          <p:cNvSpPr/>
          <p:nvPr/>
        </p:nvSpPr>
        <p:spPr>
          <a:xfrm>
            <a:off x="2057400" y="868680"/>
            <a:ext cx="8229600" cy="822960"/>
          </a:xfrm>
          <a:prstGeom prst="rect">
            <a:avLst/>
          </a:prstGeom>
          <a:noFill/>
          <a:ln/>
        </p:spPr>
        <p:txBody>
          <a:bodyPr wrap="square" lIns="0" tIns="0" rIns="0" bIns="0" rtlCol="0" anchor="ctr"/>
          <a:lstStyle/>
          <a:p>
            <a:pPr indent="0" marL="0">
              <a:buNone/>
            </a:pPr>
            <a:r>
              <a:rPr lang="en-US" sz="1300" spc="200" kern="0" dirty="0">
                <a:solidFill>
                  <a:srgbClr val="AEBDD2"/>
                </a:solidFill>
                <a:latin typeface="Meiryo" pitchFamily="34" charset="0"/>
                <a:ea typeface="Meiryo" pitchFamily="34" charset="-122"/>
                <a:cs typeface="Meiryo" pitchFamily="34" charset="-120"/>
              </a:rPr>
              <a:t>SYSYSTEM Co., Ltd.</a:t>
            </a:r>
            <a:endParaRPr lang="en-US" sz="1300" dirty="0"/>
          </a:p>
        </p:txBody>
      </p:sp>
      <p:sp>
        <p:nvSpPr>
          <p:cNvPr id="7" name="Text 4"/>
          <p:cNvSpPr/>
          <p:nvPr/>
        </p:nvSpPr>
        <p:spPr>
          <a:xfrm>
            <a:off x="822960" y="2331720"/>
            <a:ext cx="10607040" cy="1828800"/>
          </a:xfrm>
          <a:prstGeom prst="rect">
            <a:avLst/>
          </a:prstGeom>
          <a:noFill/>
          <a:ln/>
        </p:spPr>
        <p:txBody>
          <a:bodyPr wrap="square" lIns="0" tIns="0" rIns="0" bIns="0" rtlCol="0" anchor="ctr"/>
          <a:lstStyle/>
          <a:p>
            <a:pPr indent="0" marL="0">
              <a:lnSpc>
                <a:spcPct val="115000"/>
              </a:lnSpc>
              <a:buNone/>
            </a:pPr>
            <a:r>
              <a:rPr lang="en-US" sz="4200" b="1" dirty="0">
                <a:solidFill>
                  <a:srgbClr val="FFFFFF"/>
                </a:solidFill>
                <a:latin typeface="Meiryo" pitchFamily="34" charset="0"/>
                <a:ea typeface="Meiryo" pitchFamily="34" charset="-122"/>
                <a:cs typeface="Meiryo" pitchFamily="34" charset="-120"/>
              </a:rPr>
              <a:t>Claudeを活用した成果物のご紹介</a:t>
            </a:r>
            <a:endParaRPr lang="en-US" sz="4200" dirty="0"/>
          </a:p>
          <a:p>
            <a:pPr indent="0" marL="0">
              <a:lnSpc>
                <a:spcPct val="115000"/>
              </a:lnSpc>
              <a:buNone/>
            </a:pPr>
            <a:r>
              <a:rPr lang="en-US" sz="1900" dirty="0">
                <a:solidFill>
                  <a:srgbClr val="C8D4E6"/>
                </a:solidFill>
                <a:latin typeface="Meiryo" pitchFamily="34" charset="0"/>
                <a:ea typeface="Meiryo" pitchFamily="34" charset="-122"/>
                <a:cs typeface="Meiryo" pitchFamily="34" charset="-120"/>
              </a:rPr>
              <a:t>Deliverables Built with Claude — A Project Track Record</a:t>
            </a:r>
            <a:endParaRPr lang="en-US" sz="4200" dirty="0"/>
          </a:p>
        </p:txBody>
      </p:sp>
      <p:sp>
        <p:nvSpPr>
          <p:cNvPr id="8" name="Shape 5"/>
          <p:cNvSpPr/>
          <p:nvPr/>
        </p:nvSpPr>
        <p:spPr>
          <a:xfrm>
            <a:off x="868680" y="4526280"/>
            <a:ext cx="3840480" cy="0"/>
          </a:xfrm>
          <a:prstGeom prst="line">
            <a:avLst/>
          </a:prstGeom>
          <a:noFill/>
          <a:ln w="31750">
            <a:solidFill>
              <a:srgbClr val="C0603A"/>
            </a:solidFill>
            <a:prstDash val="solid"/>
          </a:ln>
        </p:spPr>
      </p:sp>
      <p:sp>
        <p:nvSpPr>
          <p:cNvPr id="9" name="Text 6"/>
          <p:cNvSpPr/>
          <p:nvPr/>
        </p:nvSpPr>
        <p:spPr>
          <a:xfrm>
            <a:off x="868680" y="4754880"/>
            <a:ext cx="10058400" cy="1554480"/>
          </a:xfrm>
          <a:prstGeom prst="rect">
            <a:avLst/>
          </a:prstGeom>
          <a:noFill/>
          <a:ln/>
        </p:spPr>
        <p:txBody>
          <a:bodyPr wrap="square" lIns="0" tIns="0" rIns="0" bIns="0" rtlCol="0" anchor="ctr"/>
          <a:lstStyle/>
          <a:p>
            <a:pPr indent="0" marL="0">
              <a:lnSpc>
                <a:spcPct val="120000"/>
              </a:lnSpc>
              <a:buNone/>
            </a:pPr>
            <a:r>
              <a:rPr lang="en-US" sz="2000" b="1" dirty="0">
                <a:solidFill>
                  <a:srgbClr val="FFFFFF"/>
                </a:solidFill>
                <a:latin typeface="Meiryo" pitchFamily="34" charset="0"/>
                <a:ea typeface="Meiryo" pitchFamily="34" charset="-122"/>
                <a:cs typeface="Meiryo" pitchFamily="34" charset="-120"/>
              </a:rPr>
              <a:t>ナフィスイクバル</a:t>
            </a:r>
            <a:endParaRPr lang="en-US" sz="2000" dirty="0"/>
          </a:p>
          <a:p>
            <a:pPr indent="0" marL="0">
              <a:lnSpc>
                <a:spcPct val="120000"/>
              </a:lnSpc>
              <a:buNone/>
            </a:pPr>
            <a:r>
              <a:rPr lang="en-US" sz="1400" dirty="0">
                <a:solidFill>
                  <a:srgbClr val="C8D4E6"/>
                </a:solidFill>
                <a:latin typeface="Meiryo" pitchFamily="34" charset="0"/>
                <a:ea typeface="Meiryo" pitchFamily="34" charset="-122"/>
                <a:cs typeface="Meiryo" pitchFamily="34" charset="-120"/>
              </a:rPr>
              <a:t>Nafis Iqbal ／ エンジニア (Engineer)</a:t>
            </a:r>
            <a:endParaRPr lang="en-US" sz="2000" dirty="0"/>
          </a:p>
          <a:p>
            <a:pPr indent="0" marL="0">
              <a:lnSpc>
                <a:spcPct val="120000"/>
              </a:lnSpc>
              <a:buNone/>
            </a:pPr>
            <a:r>
              <a:rPr lang="en-US" sz="1300" dirty="0">
                <a:solidFill>
                  <a:srgbClr val="8FA0BA"/>
                </a:solidFill>
                <a:latin typeface="Meiryo" pitchFamily="34" charset="0"/>
                <a:ea typeface="Meiryo" pitchFamily="34" charset="-122"/>
                <a:cs typeface="Meiryo" pitchFamily="34" charset="-120"/>
              </a:rPr>
              <a:t>2026年7月 / July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概要</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Overview</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Text 4"/>
          <p:cNvSpPr/>
          <p:nvPr/>
        </p:nvSpPr>
        <p:spPr>
          <a:xfrm>
            <a:off x="640080" y="1627632"/>
            <a:ext cx="10927080" cy="960120"/>
          </a:xfrm>
          <a:prstGeom prst="rect">
            <a:avLst/>
          </a:prstGeom>
          <a:noFill/>
          <a:ln/>
        </p:spPr>
        <p:txBody>
          <a:bodyPr wrap="square" lIns="0" tIns="0" rIns="0" bIns="0" rtlCol="0" anchor="t"/>
          <a:lstStyle/>
          <a:p>
            <a:pPr indent="0" marL="0">
              <a:lnSpc>
                <a:spcPct val="112000"/>
              </a:lnSpc>
              <a:buNone/>
            </a:pPr>
            <a:r>
              <a:rPr lang="en-US" sz="1550" b="1" dirty="0">
                <a:solidFill>
                  <a:srgbClr val="1E293B"/>
                </a:solidFill>
                <a:latin typeface="Meiryo" pitchFamily="34" charset="0"/>
                <a:ea typeface="Meiryo" pitchFamily="34" charset="-122"/>
                <a:cs typeface="Meiryo" pitchFamily="34" charset="-120"/>
              </a:rPr>
              <a:t>稼働中のプロジェクトにおいて、Claudeを開発の実作業ツールとして初期から一貫して活用し、実際の成果物を制作してきました。</a:t>
            </a:r>
            <a:endParaRPr lang="en-US" sz="1550" dirty="0"/>
          </a:p>
          <a:p>
            <a:pPr indent="0" marL="0">
              <a:lnSpc>
                <a:spcPct val="112000"/>
              </a:lnSpc>
              <a:buNone/>
            </a:pPr>
            <a:r>
              <a:rPr lang="en-US" sz="1200" dirty="0">
                <a:solidFill>
                  <a:srgbClr val="6B7A90"/>
                </a:solidFill>
                <a:latin typeface="Meiryo" pitchFamily="34" charset="0"/>
                <a:ea typeface="Meiryo" pitchFamily="34" charset="-122"/>
                <a:cs typeface="Meiryo" pitchFamily="34" charset="-120"/>
              </a:rPr>
              <a:t>Across a live project, I used Claude from day one as a hands-on working tool to produce real deliverables — not just as a chat assistant.</a:t>
            </a:r>
            <a:endParaRPr lang="en-US" sz="1550" dirty="0"/>
          </a:p>
        </p:txBody>
      </p:sp>
      <p:sp>
        <p:nvSpPr>
          <p:cNvPr id="7" name="Shape 5"/>
          <p:cNvSpPr/>
          <p:nvPr/>
        </p:nvSpPr>
        <p:spPr>
          <a:xfrm>
            <a:off x="640080" y="2788920"/>
            <a:ext cx="2624328" cy="1463040"/>
          </a:xfrm>
          <a:prstGeom prst="roundRect">
            <a:avLst>
              <a:gd name="adj" fmla="val 5625"/>
            </a:avLst>
          </a:prstGeom>
          <a:solidFill>
            <a:srgbClr val="F4F7FB"/>
          </a:solidFill>
          <a:ln/>
          <a:effectLst>
            <a:outerShdw sx="100000" sy="100000" kx="0" ky="0" algn="bl" rotWithShape="0" blurRad="114300" dist="38100" dir="5400000">
              <a:srgbClr val="9AA7B8">
                <a:alpha val="28000"/>
              </a:srgbClr>
            </a:outerShdw>
          </a:effectLst>
        </p:spPr>
      </p:sp>
      <p:sp>
        <p:nvSpPr>
          <p:cNvPr id="8" name="Shape 6"/>
          <p:cNvSpPr/>
          <p:nvPr/>
        </p:nvSpPr>
        <p:spPr>
          <a:xfrm>
            <a:off x="877824" y="3035808"/>
            <a:ext cx="603504" cy="603504"/>
          </a:xfrm>
          <a:prstGeom prst="ellipse">
            <a:avLst/>
          </a:prstGeom>
          <a:solidFill>
            <a:srgbClr val="0F766E"/>
          </a:solidFill>
          <a:ln/>
        </p:spPr>
      </p:sp>
      <p:pic>
        <p:nvPicPr>
          <p:cNvPr id="9" name="Image 0" descr="preencoded.png">    </p:cNvPr>
          <p:cNvPicPr>
            <a:picLocks noChangeAspect="1"/>
          </p:cNvPicPr>
          <p:nvPr/>
        </p:nvPicPr>
        <p:blipFill>
          <a:blip r:embed="rId1"/>
          <a:stretch>
            <a:fillRect/>
          </a:stretch>
        </p:blipFill>
        <p:spPr>
          <a:xfrm>
            <a:off x="1034735" y="3192719"/>
            <a:ext cx="289682" cy="289682"/>
          </a:xfrm>
          <a:prstGeom prst="rect">
            <a:avLst/>
          </a:prstGeom>
        </p:spPr>
      </p:pic>
      <p:sp>
        <p:nvSpPr>
          <p:cNvPr id="10" name="Text 7"/>
          <p:cNvSpPr/>
          <p:nvPr/>
        </p:nvSpPr>
        <p:spPr>
          <a:xfrm>
            <a:off x="877824" y="3703320"/>
            <a:ext cx="2212848" cy="457200"/>
          </a:xfrm>
          <a:prstGeom prst="rect">
            <a:avLst/>
          </a:prstGeom>
          <a:noFill/>
          <a:ln/>
        </p:spPr>
        <p:txBody>
          <a:bodyPr wrap="square" lIns="0" tIns="0" rIns="0" bIns="0" rtlCol="0" anchor="ctr"/>
          <a:lstStyle/>
          <a:p>
            <a:pPr indent="0" marL="0">
              <a:lnSpc>
                <a:spcPct val="100000"/>
              </a:lnSpc>
              <a:buNone/>
            </a:pPr>
            <a:r>
              <a:rPr lang="en-US" sz="1400" b="1" dirty="0">
                <a:solidFill>
                  <a:srgbClr val="1E293B"/>
                </a:solidFill>
                <a:latin typeface="Meiryo" pitchFamily="34" charset="0"/>
                <a:ea typeface="Meiryo" pitchFamily="34" charset="-122"/>
                <a:cs typeface="Meiryo" pitchFamily="34" charset="-120"/>
              </a:rPr>
              <a:t>データ分析</a:t>
            </a:r>
            <a:endParaRPr lang="en-US" sz="1400" dirty="0"/>
          </a:p>
          <a:p>
            <a:pPr indent="0" marL="0">
              <a:lnSpc>
                <a:spcPct val="100000"/>
              </a:lnSpc>
              <a:buNone/>
            </a:pPr>
            <a:r>
              <a:rPr lang="en-US" sz="1050" dirty="0">
                <a:solidFill>
                  <a:srgbClr val="6B7A90"/>
                </a:solidFill>
                <a:latin typeface="Meiryo" pitchFamily="34" charset="0"/>
                <a:ea typeface="Meiryo" pitchFamily="34" charset="-122"/>
                <a:cs typeface="Meiryo" pitchFamily="34" charset="-120"/>
              </a:rPr>
              <a:t>Data Analysis</a:t>
            </a:r>
            <a:endParaRPr lang="en-US" sz="1400" dirty="0"/>
          </a:p>
        </p:txBody>
      </p:sp>
      <p:sp>
        <p:nvSpPr>
          <p:cNvPr id="11" name="Shape 8"/>
          <p:cNvSpPr/>
          <p:nvPr/>
        </p:nvSpPr>
        <p:spPr>
          <a:xfrm>
            <a:off x="3410712" y="2788920"/>
            <a:ext cx="2624328" cy="1463040"/>
          </a:xfrm>
          <a:prstGeom prst="roundRect">
            <a:avLst>
              <a:gd name="adj" fmla="val 5625"/>
            </a:avLst>
          </a:prstGeom>
          <a:solidFill>
            <a:srgbClr val="F4F7FB"/>
          </a:solidFill>
          <a:ln/>
          <a:effectLst>
            <a:outerShdw sx="100000" sy="100000" kx="0" ky="0" algn="bl" rotWithShape="0" blurRad="114300" dist="38100" dir="5400000">
              <a:srgbClr val="9AA7B8">
                <a:alpha val="28000"/>
              </a:srgbClr>
            </a:outerShdw>
          </a:effectLst>
        </p:spPr>
      </p:sp>
      <p:sp>
        <p:nvSpPr>
          <p:cNvPr id="12" name="Shape 9"/>
          <p:cNvSpPr/>
          <p:nvPr/>
        </p:nvSpPr>
        <p:spPr>
          <a:xfrm>
            <a:off x="3648456" y="3035808"/>
            <a:ext cx="603504" cy="603504"/>
          </a:xfrm>
          <a:prstGeom prst="ellipse">
            <a:avLst/>
          </a:prstGeom>
          <a:solidFill>
            <a:srgbClr val="C0603A"/>
          </a:solidFill>
          <a:ln/>
        </p:spPr>
      </p:sp>
      <p:pic>
        <p:nvPicPr>
          <p:cNvPr id="13" name="Image 1" descr="preencoded.png">    </p:cNvPr>
          <p:cNvPicPr>
            <a:picLocks noChangeAspect="1"/>
          </p:cNvPicPr>
          <p:nvPr/>
        </p:nvPicPr>
        <p:blipFill>
          <a:blip r:embed="rId2"/>
          <a:stretch>
            <a:fillRect/>
          </a:stretch>
        </p:blipFill>
        <p:spPr>
          <a:xfrm>
            <a:off x="3805367" y="3192719"/>
            <a:ext cx="289682" cy="289682"/>
          </a:xfrm>
          <a:prstGeom prst="rect">
            <a:avLst/>
          </a:prstGeom>
        </p:spPr>
      </p:pic>
      <p:sp>
        <p:nvSpPr>
          <p:cNvPr id="14" name="Text 10"/>
          <p:cNvSpPr/>
          <p:nvPr/>
        </p:nvSpPr>
        <p:spPr>
          <a:xfrm>
            <a:off x="3648456" y="3703320"/>
            <a:ext cx="2212848" cy="457200"/>
          </a:xfrm>
          <a:prstGeom prst="rect">
            <a:avLst/>
          </a:prstGeom>
          <a:noFill/>
          <a:ln/>
        </p:spPr>
        <p:txBody>
          <a:bodyPr wrap="square" lIns="0" tIns="0" rIns="0" bIns="0" rtlCol="0" anchor="ctr"/>
          <a:lstStyle/>
          <a:p>
            <a:pPr indent="0" marL="0">
              <a:lnSpc>
                <a:spcPct val="100000"/>
              </a:lnSpc>
              <a:buNone/>
            </a:pPr>
            <a:r>
              <a:rPr lang="en-US" sz="1400" b="1" dirty="0">
                <a:solidFill>
                  <a:srgbClr val="1E293B"/>
                </a:solidFill>
                <a:latin typeface="Meiryo" pitchFamily="34" charset="0"/>
                <a:ea typeface="Meiryo" pitchFamily="34" charset="-122"/>
                <a:cs typeface="Meiryo" pitchFamily="34" charset="-120"/>
              </a:rPr>
              <a:t>コード開発・PoC</a:t>
            </a:r>
            <a:endParaRPr lang="en-US" sz="1400" dirty="0"/>
          </a:p>
          <a:p>
            <a:pPr indent="0" marL="0">
              <a:lnSpc>
                <a:spcPct val="100000"/>
              </a:lnSpc>
              <a:buNone/>
            </a:pPr>
            <a:r>
              <a:rPr lang="en-US" sz="1050" dirty="0">
                <a:solidFill>
                  <a:srgbClr val="6B7A90"/>
                </a:solidFill>
                <a:latin typeface="Meiryo" pitchFamily="34" charset="0"/>
                <a:ea typeface="Meiryo" pitchFamily="34" charset="-122"/>
                <a:cs typeface="Meiryo" pitchFamily="34" charset="-120"/>
              </a:rPr>
              <a:t>Coding &amp; PoC</a:t>
            </a:r>
            <a:endParaRPr lang="en-US" sz="1400" dirty="0"/>
          </a:p>
        </p:txBody>
      </p:sp>
      <p:sp>
        <p:nvSpPr>
          <p:cNvPr id="15" name="Shape 11"/>
          <p:cNvSpPr/>
          <p:nvPr/>
        </p:nvSpPr>
        <p:spPr>
          <a:xfrm>
            <a:off x="6181344" y="2788920"/>
            <a:ext cx="2624328" cy="1463040"/>
          </a:xfrm>
          <a:prstGeom prst="roundRect">
            <a:avLst>
              <a:gd name="adj" fmla="val 5625"/>
            </a:avLst>
          </a:prstGeom>
          <a:solidFill>
            <a:srgbClr val="F4F7FB"/>
          </a:solidFill>
          <a:ln/>
          <a:effectLst>
            <a:outerShdw sx="100000" sy="100000" kx="0" ky="0" algn="bl" rotWithShape="0" blurRad="114300" dist="38100" dir="5400000">
              <a:srgbClr val="9AA7B8">
                <a:alpha val="28000"/>
              </a:srgbClr>
            </a:outerShdw>
          </a:effectLst>
        </p:spPr>
      </p:sp>
      <p:sp>
        <p:nvSpPr>
          <p:cNvPr id="16" name="Shape 12"/>
          <p:cNvSpPr/>
          <p:nvPr/>
        </p:nvSpPr>
        <p:spPr>
          <a:xfrm>
            <a:off x="6419088" y="3035808"/>
            <a:ext cx="603504" cy="603504"/>
          </a:xfrm>
          <a:prstGeom prst="ellipse">
            <a:avLst/>
          </a:prstGeom>
          <a:solidFill>
            <a:srgbClr val="0F766E"/>
          </a:solidFill>
          <a:ln/>
        </p:spPr>
      </p:sp>
      <p:pic>
        <p:nvPicPr>
          <p:cNvPr id="17" name="Image 2" descr="preencoded.png">    </p:cNvPr>
          <p:cNvPicPr>
            <a:picLocks noChangeAspect="1"/>
          </p:cNvPicPr>
          <p:nvPr/>
        </p:nvPicPr>
        <p:blipFill>
          <a:blip r:embed="rId3"/>
          <a:stretch>
            <a:fillRect/>
          </a:stretch>
        </p:blipFill>
        <p:spPr>
          <a:xfrm>
            <a:off x="6575999" y="3192719"/>
            <a:ext cx="289682" cy="289682"/>
          </a:xfrm>
          <a:prstGeom prst="rect">
            <a:avLst/>
          </a:prstGeom>
        </p:spPr>
      </p:pic>
      <p:sp>
        <p:nvSpPr>
          <p:cNvPr id="18" name="Text 13"/>
          <p:cNvSpPr/>
          <p:nvPr/>
        </p:nvSpPr>
        <p:spPr>
          <a:xfrm>
            <a:off x="6419088" y="3703320"/>
            <a:ext cx="2212848" cy="457200"/>
          </a:xfrm>
          <a:prstGeom prst="rect">
            <a:avLst/>
          </a:prstGeom>
          <a:noFill/>
          <a:ln/>
        </p:spPr>
        <p:txBody>
          <a:bodyPr wrap="square" lIns="0" tIns="0" rIns="0" bIns="0" rtlCol="0" anchor="ctr"/>
          <a:lstStyle/>
          <a:p>
            <a:pPr indent="0" marL="0">
              <a:lnSpc>
                <a:spcPct val="100000"/>
              </a:lnSpc>
              <a:buNone/>
            </a:pPr>
            <a:r>
              <a:rPr lang="en-US" sz="1400" b="1" dirty="0">
                <a:solidFill>
                  <a:srgbClr val="1E293B"/>
                </a:solidFill>
                <a:latin typeface="Meiryo" pitchFamily="34" charset="0"/>
                <a:ea typeface="Meiryo" pitchFamily="34" charset="-122"/>
                <a:cs typeface="Meiryo" pitchFamily="34" charset="-120"/>
              </a:rPr>
              <a:t>QA・品質改善</a:t>
            </a:r>
            <a:endParaRPr lang="en-US" sz="1400" dirty="0"/>
          </a:p>
          <a:p>
            <a:pPr indent="0" marL="0">
              <a:lnSpc>
                <a:spcPct val="100000"/>
              </a:lnSpc>
              <a:buNone/>
            </a:pPr>
            <a:r>
              <a:rPr lang="en-US" sz="1050" dirty="0">
                <a:solidFill>
                  <a:srgbClr val="6B7A90"/>
                </a:solidFill>
                <a:latin typeface="Meiryo" pitchFamily="34" charset="0"/>
                <a:ea typeface="Meiryo" pitchFamily="34" charset="-122"/>
                <a:cs typeface="Meiryo" pitchFamily="34" charset="-120"/>
              </a:rPr>
              <a:t>QA &amp; Quality</a:t>
            </a:r>
            <a:endParaRPr lang="en-US" sz="1400" dirty="0"/>
          </a:p>
        </p:txBody>
      </p:sp>
      <p:sp>
        <p:nvSpPr>
          <p:cNvPr id="19" name="Shape 14"/>
          <p:cNvSpPr/>
          <p:nvPr/>
        </p:nvSpPr>
        <p:spPr>
          <a:xfrm>
            <a:off x="8951976" y="2788920"/>
            <a:ext cx="2624328" cy="1463040"/>
          </a:xfrm>
          <a:prstGeom prst="roundRect">
            <a:avLst>
              <a:gd name="adj" fmla="val 5625"/>
            </a:avLst>
          </a:prstGeom>
          <a:solidFill>
            <a:srgbClr val="F4F7FB"/>
          </a:solidFill>
          <a:ln/>
          <a:effectLst>
            <a:outerShdw sx="100000" sy="100000" kx="0" ky="0" algn="bl" rotWithShape="0" blurRad="114300" dist="38100" dir="5400000">
              <a:srgbClr val="9AA7B8">
                <a:alpha val="28000"/>
              </a:srgbClr>
            </a:outerShdw>
          </a:effectLst>
        </p:spPr>
      </p:sp>
      <p:sp>
        <p:nvSpPr>
          <p:cNvPr id="20" name="Shape 15"/>
          <p:cNvSpPr/>
          <p:nvPr/>
        </p:nvSpPr>
        <p:spPr>
          <a:xfrm>
            <a:off x="9189720" y="3035808"/>
            <a:ext cx="603504" cy="603504"/>
          </a:xfrm>
          <a:prstGeom prst="ellipse">
            <a:avLst/>
          </a:prstGeom>
          <a:solidFill>
            <a:srgbClr val="C0603A"/>
          </a:solidFill>
          <a:ln/>
        </p:spPr>
      </p:sp>
      <p:pic>
        <p:nvPicPr>
          <p:cNvPr id="21" name="Image 3" descr="preencoded.png">    </p:cNvPr>
          <p:cNvPicPr>
            <a:picLocks noChangeAspect="1"/>
          </p:cNvPicPr>
          <p:nvPr/>
        </p:nvPicPr>
        <p:blipFill>
          <a:blip r:embed="rId4"/>
          <a:stretch>
            <a:fillRect/>
          </a:stretch>
        </p:blipFill>
        <p:spPr>
          <a:xfrm>
            <a:off x="9346631" y="3192719"/>
            <a:ext cx="289682" cy="289682"/>
          </a:xfrm>
          <a:prstGeom prst="rect">
            <a:avLst/>
          </a:prstGeom>
        </p:spPr>
      </p:pic>
      <p:sp>
        <p:nvSpPr>
          <p:cNvPr id="22" name="Text 16"/>
          <p:cNvSpPr/>
          <p:nvPr/>
        </p:nvSpPr>
        <p:spPr>
          <a:xfrm>
            <a:off x="9189720" y="3703320"/>
            <a:ext cx="2212848" cy="457200"/>
          </a:xfrm>
          <a:prstGeom prst="rect">
            <a:avLst/>
          </a:prstGeom>
          <a:noFill/>
          <a:ln/>
        </p:spPr>
        <p:txBody>
          <a:bodyPr wrap="square" lIns="0" tIns="0" rIns="0" bIns="0" rtlCol="0" anchor="ctr"/>
          <a:lstStyle/>
          <a:p>
            <a:pPr indent="0" marL="0">
              <a:lnSpc>
                <a:spcPct val="100000"/>
              </a:lnSpc>
              <a:buNone/>
            </a:pPr>
            <a:r>
              <a:rPr lang="en-US" sz="1400" b="1" dirty="0">
                <a:solidFill>
                  <a:srgbClr val="1E293B"/>
                </a:solidFill>
                <a:latin typeface="Meiryo" pitchFamily="34" charset="0"/>
                <a:ea typeface="Meiryo" pitchFamily="34" charset="-122"/>
                <a:cs typeface="Meiryo" pitchFamily="34" charset="-120"/>
              </a:rPr>
              <a:t>ドキュメント作成</a:t>
            </a:r>
            <a:endParaRPr lang="en-US" sz="1400" dirty="0"/>
          </a:p>
          <a:p>
            <a:pPr indent="0" marL="0">
              <a:lnSpc>
                <a:spcPct val="100000"/>
              </a:lnSpc>
              <a:buNone/>
            </a:pPr>
            <a:r>
              <a:rPr lang="en-US" sz="1050" dirty="0">
                <a:solidFill>
                  <a:srgbClr val="6B7A90"/>
                </a:solidFill>
                <a:latin typeface="Meiryo" pitchFamily="34" charset="0"/>
                <a:ea typeface="Meiryo" pitchFamily="34" charset="-122"/>
                <a:cs typeface="Meiryo" pitchFamily="34" charset="-120"/>
              </a:rPr>
              <a:t>Documentation</a:t>
            </a:r>
            <a:endParaRPr lang="en-US" sz="1400" dirty="0"/>
          </a:p>
        </p:txBody>
      </p:sp>
      <p:sp>
        <p:nvSpPr>
          <p:cNvPr id="23" name="Shape 17"/>
          <p:cNvSpPr/>
          <p:nvPr/>
        </p:nvSpPr>
        <p:spPr>
          <a:xfrm>
            <a:off x="640080" y="4480560"/>
            <a:ext cx="7086600" cy="1645920"/>
          </a:xfrm>
          <a:prstGeom prst="roundRect">
            <a:avLst>
              <a:gd name="adj" fmla="val 5000"/>
            </a:avLst>
          </a:prstGeom>
          <a:solidFill>
            <a:srgbClr val="EAF0F7"/>
          </a:solidFill>
          <a:ln/>
          <a:effectLst>
            <a:outerShdw sx="100000" sy="100000" kx="0" ky="0" algn="bl" rotWithShape="0" blurRad="114300" dist="38100" dir="5400000">
              <a:srgbClr val="9AA7B8">
                <a:alpha val="28000"/>
              </a:srgbClr>
            </a:outerShdw>
          </a:effectLst>
        </p:spPr>
      </p:sp>
      <p:sp>
        <p:nvSpPr>
          <p:cNvPr id="24" name="Shape 18"/>
          <p:cNvSpPr/>
          <p:nvPr/>
        </p:nvSpPr>
        <p:spPr>
          <a:xfrm>
            <a:off x="914400" y="4892040"/>
            <a:ext cx="777240" cy="777240"/>
          </a:xfrm>
          <a:prstGeom prst="ellipse">
            <a:avLst/>
          </a:prstGeom>
          <a:solidFill>
            <a:srgbClr val="0F766E"/>
          </a:solidFill>
          <a:ln/>
        </p:spPr>
      </p:sp>
      <p:pic>
        <p:nvPicPr>
          <p:cNvPr id="25" name="Image 4" descr="preencoded.png">    </p:cNvPr>
          <p:cNvPicPr>
            <a:picLocks noChangeAspect="1"/>
          </p:cNvPicPr>
          <p:nvPr/>
        </p:nvPicPr>
        <p:blipFill>
          <a:blip r:embed="rId5"/>
          <a:stretch>
            <a:fillRect/>
          </a:stretch>
        </p:blipFill>
        <p:spPr>
          <a:xfrm>
            <a:off x="1116482" y="5094122"/>
            <a:ext cx="373075" cy="373075"/>
          </a:xfrm>
          <a:prstGeom prst="rect">
            <a:avLst/>
          </a:prstGeom>
        </p:spPr>
      </p:pic>
      <p:sp>
        <p:nvSpPr>
          <p:cNvPr id="26" name="Text 19"/>
          <p:cNvSpPr/>
          <p:nvPr/>
        </p:nvSpPr>
        <p:spPr>
          <a:xfrm>
            <a:off x="1920240" y="4590288"/>
            <a:ext cx="5623560" cy="1426464"/>
          </a:xfrm>
          <a:prstGeom prst="rect">
            <a:avLst/>
          </a:prstGeom>
          <a:noFill/>
          <a:ln/>
        </p:spPr>
        <p:txBody>
          <a:bodyPr wrap="square" lIns="0" tIns="0" rIns="0" bIns="0" rtlCol="0" anchor="ctr"/>
          <a:lstStyle/>
          <a:p>
            <a:pPr indent="0" marL="0">
              <a:lnSpc>
                <a:spcPct val="104000"/>
              </a:lnSpc>
              <a:buNone/>
            </a:pPr>
            <a:r>
              <a:rPr lang="en-US" sz="1300" b="1" dirty="0">
                <a:solidFill>
                  <a:srgbClr val="1E293B"/>
                </a:solidFill>
                <a:latin typeface="Meiryo" pitchFamily="34" charset="0"/>
                <a:ea typeface="Meiryo" pitchFamily="34" charset="-122"/>
                <a:cs typeface="Meiryo" pitchFamily="34" charset="-120"/>
              </a:rPr>
              <a:t>セキュリティへの配慮 / Security by design</a:t>
            </a:r>
            <a:endParaRPr lang="en-US" sz="1300" dirty="0"/>
          </a:p>
          <a:p>
            <a:pPr indent="0" marL="0">
              <a:lnSpc>
                <a:spcPct val="104000"/>
              </a:lnSpc>
              <a:buNone/>
            </a:pPr>
            <a:r>
              <a:rPr lang="en-US" sz="1150" dirty="0">
                <a:solidFill>
                  <a:srgbClr val="1E293B"/>
                </a:solidFill>
                <a:latin typeface="Meiryo" pitchFamily="34" charset="0"/>
                <a:ea typeface="Meiryo" pitchFamily="34" charset="-122"/>
                <a:cs typeface="Meiryo" pitchFamily="34" charset="-120"/>
              </a:rPr>
              <a:t>機密情報は事前に秘匿・匿名化した上で活用。PoC段階のため直接活用の自由度がある一方、リスクとなる情報は除外して取り扱いました。</a:t>
            </a:r>
            <a:endParaRPr lang="en-US" sz="1300" dirty="0"/>
          </a:p>
          <a:p>
            <a:pPr indent="0" marL="0">
              <a:lnSpc>
                <a:spcPct val="104000"/>
              </a:lnSpc>
              <a:buNone/>
            </a:pPr>
            <a:r>
              <a:rPr lang="en-US" sz="950" dirty="0">
                <a:solidFill>
                  <a:srgbClr val="6B7A90"/>
                </a:solidFill>
                <a:latin typeface="Meiryo" pitchFamily="34" charset="0"/>
                <a:ea typeface="Meiryo" pitchFamily="34" charset="-122"/>
                <a:cs typeface="Meiryo" pitchFamily="34" charset="-120"/>
              </a:rPr>
              <a:t>Sensitive data was redacted/anonymized before use; risk-bearing information was excluded even where full access was possible.</a:t>
            </a:r>
            <a:endParaRPr lang="en-US" sz="1300" dirty="0"/>
          </a:p>
        </p:txBody>
      </p:sp>
      <p:sp>
        <p:nvSpPr>
          <p:cNvPr id="27" name="Shape 20"/>
          <p:cNvSpPr/>
          <p:nvPr/>
        </p:nvSpPr>
        <p:spPr>
          <a:xfrm>
            <a:off x="8001000" y="4480560"/>
            <a:ext cx="3566160" cy="1645920"/>
          </a:xfrm>
          <a:prstGeom prst="roundRect">
            <a:avLst>
              <a:gd name="adj" fmla="val 5000"/>
            </a:avLst>
          </a:prstGeom>
          <a:solidFill>
            <a:srgbClr val="16233D"/>
          </a:solidFill>
          <a:ln/>
          <a:effectLst>
            <a:outerShdw sx="100000" sy="100000" kx="0" ky="0" algn="bl" rotWithShape="0" blurRad="114300" dist="38100" dir="5400000">
              <a:srgbClr val="9AA7B8">
                <a:alpha val="28000"/>
              </a:srgbClr>
            </a:outerShdw>
          </a:effectLst>
        </p:spPr>
      </p:sp>
      <p:sp>
        <p:nvSpPr>
          <p:cNvPr id="28" name="Text 21"/>
          <p:cNvSpPr/>
          <p:nvPr/>
        </p:nvSpPr>
        <p:spPr>
          <a:xfrm>
            <a:off x="8275320" y="4590288"/>
            <a:ext cx="3108960" cy="1426464"/>
          </a:xfrm>
          <a:prstGeom prst="rect">
            <a:avLst/>
          </a:prstGeom>
          <a:noFill/>
          <a:ln/>
        </p:spPr>
        <p:txBody>
          <a:bodyPr wrap="square" lIns="0" tIns="0" rIns="0" bIns="0" rtlCol="0" anchor="ctr"/>
          <a:lstStyle/>
          <a:p>
            <a:pPr indent="0" marL="0">
              <a:lnSpc>
                <a:spcPct val="108000"/>
              </a:lnSpc>
              <a:buNone/>
            </a:pPr>
            <a:r>
              <a:rPr lang="en-US" sz="1200" dirty="0">
                <a:solidFill>
                  <a:srgbClr val="C8D4E6"/>
                </a:solidFill>
                <a:latin typeface="Meiryo" pitchFamily="34" charset="0"/>
                <a:ea typeface="Meiryo" pitchFamily="34" charset="-122"/>
                <a:cs typeface="Meiryo" pitchFamily="34" charset="-120"/>
              </a:rPr>
              <a:t>作業工数</a:t>
            </a:r>
            <a:endParaRPr lang="en-US" sz="1200" dirty="0"/>
          </a:p>
          <a:p>
            <a:pPr indent="0" marL="0">
              <a:lnSpc>
                <a:spcPct val="108000"/>
              </a:lnSpc>
              <a:buNone/>
            </a:pPr>
            <a:r>
              <a:rPr lang="en-US" sz="2200" b="1" dirty="0">
                <a:solidFill>
                  <a:srgbClr val="FFFFFF"/>
                </a:solidFill>
                <a:latin typeface="Meiryo" pitchFamily="34" charset="0"/>
                <a:ea typeface="Meiryo" pitchFamily="34" charset="-122"/>
                <a:cs typeface="Meiryo" pitchFamily="34" charset="-120"/>
              </a:rPr>
              <a:t>半分以上削減</a:t>
            </a:r>
            <a:endParaRPr lang="en-US" sz="1200" dirty="0"/>
          </a:p>
          <a:p>
            <a:pPr indent="0" marL="0">
              <a:lnSpc>
                <a:spcPct val="108000"/>
              </a:lnSpc>
              <a:buNone/>
            </a:pPr>
            <a:r>
              <a:rPr lang="en-US" sz="1250" b="1" dirty="0">
                <a:solidFill>
                  <a:srgbClr val="F3E6DE"/>
                </a:solidFill>
                <a:latin typeface="Meiryo" pitchFamily="34" charset="0"/>
                <a:ea typeface="Meiryo" pitchFamily="34" charset="-122"/>
                <a:cs typeface="Meiryo" pitchFamily="34" charset="-120"/>
              </a:rPr>
              <a:t>例：約7日 → 約2日</a:t>
            </a:r>
            <a:endParaRPr lang="en-US" sz="1200" dirty="0"/>
          </a:p>
          <a:p>
            <a:pPr indent="0" marL="0">
              <a:lnSpc>
                <a:spcPct val="108000"/>
              </a:lnSpc>
              <a:buNone/>
            </a:pPr>
            <a:r>
              <a:rPr lang="en-US" sz="950" dirty="0">
                <a:solidFill>
                  <a:srgbClr val="9FB0C9"/>
                </a:solidFill>
                <a:latin typeface="Meiryo" pitchFamily="34" charset="0"/>
                <a:ea typeface="Meiryo" pitchFamily="34" charset="-122"/>
                <a:cs typeface="Meiryo" pitchFamily="34" charset="-120"/>
              </a:rPr>
              <a:t>Effort cut by half or more（概算 / estimate）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プロジェクトの歩みと Claude 活用の拡大</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Project Timeline &amp; Growing Use of Claude</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1417320" y="2331720"/>
            <a:ext cx="9357055" cy="0"/>
          </a:xfrm>
          <a:prstGeom prst="line">
            <a:avLst/>
          </a:prstGeom>
          <a:noFill/>
          <a:ln w="31750">
            <a:solidFill>
              <a:srgbClr val="D9E2EC"/>
            </a:solidFill>
            <a:prstDash val="solid"/>
          </a:ln>
        </p:spPr>
      </p:sp>
      <p:sp>
        <p:nvSpPr>
          <p:cNvPr id="7" name="Shape 5"/>
          <p:cNvSpPr/>
          <p:nvPr/>
        </p:nvSpPr>
        <p:spPr>
          <a:xfrm>
            <a:off x="1280160" y="2194560"/>
            <a:ext cx="274320" cy="274320"/>
          </a:xfrm>
          <a:prstGeom prst="ellipse">
            <a:avLst/>
          </a:prstGeom>
          <a:solidFill>
            <a:srgbClr val="C0603A"/>
          </a:solidFill>
          <a:ln/>
        </p:spPr>
      </p:sp>
      <p:sp>
        <p:nvSpPr>
          <p:cNvPr id="8" name="Text 6"/>
          <p:cNvSpPr/>
          <p:nvPr/>
        </p:nvSpPr>
        <p:spPr>
          <a:xfrm>
            <a:off x="411480" y="1673352"/>
            <a:ext cx="2011680" cy="320040"/>
          </a:xfrm>
          <a:prstGeom prst="rect">
            <a:avLst/>
          </a:prstGeom>
          <a:noFill/>
          <a:ln/>
        </p:spPr>
        <p:txBody>
          <a:bodyPr wrap="square" lIns="0" tIns="0" rIns="0" bIns="0" rtlCol="0" anchor="ctr"/>
          <a:lstStyle/>
          <a:p>
            <a:pPr algn="ctr" indent="0" marL="0">
              <a:buNone/>
            </a:pPr>
            <a:r>
              <a:rPr lang="en-US" sz="1250" b="1" dirty="0">
                <a:solidFill>
                  <a:srgbClr val="C0603A"/>
                </a:solidFill>
                <a:latin typeface="Meiryo" pitchFamily="34" charset="0"/>
                <a:ea typeface="Meiryo" pitchFamily="34" charset="-122"/>
                <a:cs typeface="Meiryo" pitchFamily="34" charset="-120"/>
              </a:rPr>
              <a:t>2025.10</a:t>
            </a:r>
            <a:endParaRPr lang="en-US" sz="1250" dirty="0"/>
          </a:p>
        </p:txBody>
      </p:sp>
      <p:sp>
        <p:nvSpPr>
          <p:cNvPr id="9" name="Shape 7"/>
          <p:cNvSpPr/>
          <p:nvPr/>
        </p:nvSpPr>
        <p:spPr>
          <a:xfrm>
            <a:off x="160020" y="2715768"/>
            <a:ext cx="2514600" cy="1691640"/>
          </a:xfrm>
          <a:prstGeom prst="roundRect">
            <a:avLst>
              <a:gd name="adj" fmla="val 4865"/>
            </a:avLst>
          </a:prstGeom>
          <a:solidFill>
            <a:srgbClr val="F4F7FB"/>
          </a:solidFill>
          <a:ln/>
          <a:effectLst>
            <a:outerShdw sx="100000" sy="100000" kx="0" ky="0" algn="bl" rotWithShape="0" blurRad="114300" dist="38100" dir="5400000">
              <a:srgbClr val="9AA7B8">
                <a:alpha val="28000"/>
              </a:srgbClr>
            </a:outerShdw>
          </a:effectLst>
        </p:spPr>
      </p:sp>
      <p:sp>
        <p:nvSpPr>
          <p:cNvPr id="10" name="Text 8"/>
          <p:cNvSpPr/>
          <p:nvPr/>
        </p:nvSpPr>
        <p:spPr>
          <a:xfrm>
            <a:off x="324612" y="2862072"/>
            <a:ext cx="2185416" cy="1417320"/>
          </a:xfrm>
          <a:prstGeom prst="rect">
            <a:avLst/>
          </a:prstGeom>
          <a:noFill/>
          <a:ln/>
        </p:spPr>
        <p:txBody>
          <a:bodyPr wrap="square" lIns="0" tIns="0" rIns="0" bIns="0" rtlCol="0" anchor="t"/>
          <a:lstStyle/>
          <a:p>
            <a:pPr indent="0" marL="0">
              <a:lnSpc>
                <a:spcPct val="108000"/>
              </a:lnSpc>
              <a:buNone/>
            </a:pPr>
            <a:r>
              <a:rPr lang="en-US" sz="1300" b="1" dirty="0">
                <a:solidFill>
                  <a:srgbClr val="1E293B"/>
                </a:solidFill>
                <a:latin typeface="Meiryo" pitchFamily="34" charset="0"/>
                <a:ea typeface="Meiryo" pitchFamily="34" charset="-122"/>
                <a:cs typeface="Meiryo" pitchFamily="34" charset="-120"/>
              </a:rPr>
              <a:t>AI電話 自動テスト</a:t>
            </a:r>
            <a:endParaRPr lang="en-US" sz="1300" dirty="0"/>
          </a:p>
          <a:p>
            <a:pPr indent="0" marL="0">
              <a:lnSpc>
                <a:spcPct val="108000"/>
              </a:lnSpc>
              <a:buNone/>
            </a:pPr>
            <a:r>
              <a:rPr lang="en-US" sz="950" dirty="0">
                <a:solidFill>
                  <a:srgbClr val="6B7A90"/>
                </a:solidFill>
                <a:latin typeface="Meiryo" pitchFamily="34" charset="0"/>
                <a:ea typeface="Meiryo" pitchFamily="34" charset="-122"/>
                <a:cs typeface="Meiryo" pitchFamily="34" charset="-120"/>
              </a:rPr>
              <a:t>AI phone auto-testing</a:t>
            </a:r>
            <a:endParaRPr lang="en-US" sz="1300" dirty="0"/>
          </a:p>
          <a:p>
            <a:pPr indent="0" marL="0">
              <a:lnSpc>
                <a:spcPct val="108000"/>
              </a:lnSpc>
              <a:buNone/>
            </a:pPr>
            <a:r>
              <a:rPr lang="en-US" sz="1000" dirty="0">
                <a:solidFill>
                  <a:srgbClr val="0F766E"/>
                </a:solidFill>
                <a:latin typeface="Meiryo" pitchFamily="34" charset="0"/>
                <a:ea typeface="Meiryo" pitchFamily="34" charset="-122"/>
                <a:cs typeface="Meiryo" pitchFamily="34" charset="-120"/>
              </a:rPr>
              <a:t>調査・開発 / survey + build</a:t>
            </a:r>
            <a:endParaRPr lang="en-US" sz="1300" dirty="0"/>
          </a:p>
        </p:txBody>
      </p:sp>
      <p:sp>
        <p:nvSpPr>
          <p:cNvPr id="11" name="Shape 9"/>
          <p:cNvSpPr/>
          <p:nvPr/>
        </p:nvSpPr>
        <p:spPr>
          <a:xfrm>
            <a:off x="4399178" y="2194560"/>
            <a:ext cx="274320" cy="274320"/>
          </a:xfrm>
          <a:prstGeom prst="ellipse">
            <a:avLst/>
          </a:prstGeom>
          <a:solidFill>
            <a:srgbClr val="C0603A"/>
          </a:solidFill>
          <a:ln/>
        </p:spPr>
      </p:sp>
      <p:sp>
        <p:nvSpPr>
          <p:cNvPr id="12" name="Text 10"/>
          <p:cNvSpPr/>
          <p:nvPr/>
        </p:nvSpPr>
        <p:spPr>
          <a:xfrm>
            <a:off x="3530498" y="1673352"/>
            <a:ext cx="2011680" cy="320040"/>
          </a:xfrm>
          <a:prstGeom prst="rect">
            <a:avLst/>
          </a:prstGeom>
          <a:noFill/>
          <a:ln/>
        </p:spPr>
        <p:txBody>
          <a:bodyPr wrap="square" lIns="0" tIns="0" rIns="0" bIns="0" rtlCol="0" anchor="ctr"/>
          <a:lstStyle/>
          <a:p>
            <a:pPr algn="ctr" indent="0" marL="0">
              <a:buNone/>
            </a:pPr>
            <a:r>
              <a:rPr lang="en-US" sz="1250" b="1" dirty="0">
                <a:solidFill>
                  <a:srgbClr val="C0603A"/>
                </a:solidFill>
                <a:latin typeface="Meiryo" pitchFamily="34" charset="0"/>
                <a:ea typeface="Meiryo" pitchFamily="34" charset="-122"/>
                <a:cs typeface="Meiryo" pitchFamily="34" charset="-120"/>
              </a:rPr>
              <a:t>2025.11–12</a:t>
            </a:r>
            <a:endParaRPr lang="en-US" sz="1250" dirty="0"/>
          </a:p>
        </p:txBody>
      </p:sp>
      <p:sp>
        <p:nvSpPr>
          <p:cNvPr id="13" name="Shape 11"/>
          <p:cNvSpPr/>
          <p:nvPr/>
        </p:nvSpPr>
        <p:spPr>
          <a:xfrm>
            <a:off x="3279038" y="2715768"/>
            <a:ext cx="2514600" cy="1691640"/>
          </a:xfrm>
          <a:prstGeom prst="roundRect">
            <a:avLst>
              <a:gd name="adj" fmla="val 4865"/>
            </a:avLst>
          </a:prstGeom>
          <a:solidFill>
            <a:srgbClr val="F4F7FB"/>
          </a:solidFill>
          <a:ln/>
          <a:effectLst>
            <a:outerShdw sx="100000" sy="100000" kx="0" ky="0" algn="bl" rotWithShape="0" blurRad="114300" dist="38100" dir="5400000">
              <a:srgbClr val="9AA7B8">
                <a:alpha val="28000"/>
              </a:srgbClr>
            </a:outerShdw>
          </a:effectLst>
        </p:spPr>
      </p:sp>
      <p:sp>
        <p:nvSpPr>
          <p:cNvPr id="14" name="Text 12"/>
          <p:cNvSpPr/>
          <p:nvPr/>
        </p:nvSpPr>
        <p:spPr>
          <a:xfrm>
            <a:off x="3443630" y="2862072"/>
            <a:ext cx="2185416" cy="1417320"/>
          </a:xfrm>
          <a:prstGeom prst="rect">
            <a:avLst/>
          </a:prstGeom>
          <a:noFill/>
          <a:ln/>
        </p:spPr>
        <p:txBody>
          <a:bodyPr wrap="square" lIns="0" tIns="0" rIns="0" bIns="0" rtlCol="0" anchor="t"/>
          <a:lstStyle/>
          <a:p>
            <a:pPr indent="0" marL="0">
              <a:lnSpc>
                <a:spcPct val="108000"/>
              </a:lnSpc>
              <a:buNone/>
            </a:pPr>
            <a:r>
              <a:rPr lang="en-US" sz="1300" b="1" dirty="0">
                <a:solidFill>
                  <a:srgbClr val="1E293B"/>
                </a:solidFill>
                <a:latin typeface="Meiryo" pitchFamily="34" charset="0"/>
                <a:ea typeface="Meiryo" pitchFamily="34" charset="-122"/>
                <a:cs typeface="Meiryo" pitchFamily="34" charset="-120"/>
              </a:rPr>
              <a:t>予約リコメンドAPI</a:t>
            </a:r>
            <a:endParaRPr lang="en-US" sz="1300" dirty="0"/>
          </a:p>
          <a:p>
            <a:pPr indent="0" marL="0">
              <a:lnSpc>
                <a:spcPct val="108000"/>
              </a:lnSpc>
              <a:buNone/>
            </a:pPr>
            <a:r>
              <a:rPr lang="en-US" sz="950" dirty="0">
                <a:solidFill>
                  <a:srgbClr val="6B7A90"/>
                </a:solidFill>
                <a:latin typeface="Meiryo" pitchFamily="34" charset="0"/>
                <a:ea typeface="Meiryo" pitchFamily="34" charset="-122"/>
                <a:cs typeface="Meiryo" pitchFamily="34" charset="-120"/>
              </a:rPr>
              <a:t>Booking recommendation API</a:t>
            </a:r>
            <a:endParaRPr lang="en-US" sz="1300" dirty="0"/>
          </a:p>
          <a:p>
            <a:pPr indent="0" marL="0">
              <a:lnSpc>
                <a:spcPct val="108000"/>
              </a:lnSpc>
              <a:buNone/>
            </a:pPr>
            <a:r>
              <a:rPr lang="en-US" sz="1000" dirty="0">
                <a:solidFill>
                  <a:srgbClr val="0F766E"/>
                </a:solidFill>
                <a:latin typeface="Meiryo" pitchFamily="34" charset="0"/>
                <a:ea typeface="Meiryo" pitchFamily="34" charset="-122"/>
                <a:cs typeface="Meiryo" pitchFamily="34" charset="-120"/>
              </a:rPr>
              <a:t>現状調査・PoC / study + PoC</a:t>
            </a:r>
            <a:endParaRPr lang="en-US" sz="1300" dirty="0"/>
          </a:p>
        </p:txBody>
      </p:sp>
      <p:sp>
        <p:nvSpPr>
          <p:cNvPr id="15" name="Shape 13"/>
          <p:cNvSpPr/>
          <p:nvPr/>
        </p:nvSpPr>
        <p:spPr>
          <a:xfrm>
            <a:off x="7518197" y="2194560"/>
            <a:ext cx="274320" cy="274320"/>
          </a:xfrm>
          <a:prstGeom prst="ellipse">
            <a:avLst/>
          </a:prstGeom>
          <a:solidFill>
            <a:srgbClr val="C0603A"/>
          </a:solidFill>
          <a:ln/>
        </p:spPr>
      </p:sp>
      <p:sp>
        <p:nvSpPr>
          <p:cNvPr id="16" name="Text 14"/>
          <p:cNvSpPr/>
          <p:nvPr/>
        </p:nvSpPr>
        <p:spPr>
          <a:xfrm>
            <a:off x="6649517" y="1673352"/>
            <a:ext cx="2011680" cy="320040"/>
          </a:xfrm>
          <a:prstGeom prst="rect">
            <a:avLst/>
          </a:prstGeom>
          <a:noFill/>
          <a:ln/>
        </p:spPr>
        <p:txBody>
          <a:bodyPr wrap="square" lIns="0" tIns="0" rIns="0" bIns="0" rtlCol="0" anchor="ctr"/>
          <a:lstStyle/>
          <a:p>
            <a:pPr algn="ctr" indent="0" marL="0">
              <a:buNone/>
            </a:pPr>
            <a:r>
              <a:rPr lang="en-US" sz="1250" b="1" dirty="0">
                <a:solidFill>
                  <a:srgbClr val="C0603A"/>
                </a:solidFill>
                <a:latin typeface="Meiryo" pitchFamily="34" charset="0"/>
                <a:ea typeface="Meiryo" pitchFamily="34" charset="-122"/>
                <a:cs typeface="Meiryo" pitchFamily="34" charset="-120"/>
              </a:rPr>
              <a:t>2026.01–</a:t>
            </a:r>
            <a:endParaRPr lang="en-US" sz="1250" dirty="0"/>
          </a:p>
        </p:txBody>
      </p:sp>
      <p:sp>
        <p:nvSpPr>
          <p:cNvPr id="17" name="Shape 15"/>
          <p:cNvSpPr/>
          <p:nvPr/>
        </p:nvSpPr>
        <p:spPr>
          <a:xfrm>
            <a:off x="6398057" y="2715768"/>
            <a:ext cx="2514600" cy="1691640"/>
          </a:xfrm>
          <a:prstGeom prst="roundRect">
            <a:avLst>
              <a:gd name="adj" fmla="val 4865"/>
            </a:avLst>
          </a:prstGeom>
          <a:solidFill>
            <a:srgbClr val="F4F7FB"/>
          </a:solidFill>
          <a:ln/>
          <a:effectLst>
            <a:outerShdw sx="100000" sy="100000" kx="0" ky="0" algn="bl" rotWithShape="0" blurRad="114300" dist="38100" dir="5400000">
              <a:srgbClr val="9AA7B8">
                <a:alpha val="28000"/>
              </a:srgbClr>
            </a:outerShdw>
          </a:effectLst>
        </p:spPr>
      </p:sp>
      <p:sp>
        <p:nvSpPr>
          <p:cNvPr id="18" name="Text 16"/>
          <p:cNvSpPr/>
          <p:nvPr/>
        </p:nvSpPr>
        <p:spPr>
          <a:xfrm>
            <a:off x="6562649" y="2862072"/>
            <a:ext cx="2185416" cy="1417320"/>
          </a:xfrm>
          <a:prstGeom prst="rect">
            <a:avLst/>
          </a:prstGeom>
          <a:noFill/>
          <a:ln/>
        </p:spPr>
        <p:txBody>
          <a:bodyPr wrap="square" lIns="0" tIns="0" rIns="0" bIns="0" rtlCol="0" anchor="t"/>
          <a:lstStyle/>
          <a:p>
            <a:pPr indent="0" marL="0">
              <a:lnSpc>
                <a:spcPct val="108000"/>
              </a:lnSpc>
              <a:buNone/>
            </a:pPr>
            <a:r>
              <a:rPr lang="en-US" sz="1300" b="1" dirty="0">
                <a:solidFill>
                  <a:srgbClr val="1E293B"/>
                </a:solidFill>
                <a:latin typeface="Meiryo" pitchFamily="34" charset="0"/>
                <a:ea typeface="Meiryo" pitchFamily="34" charset="-122"/>
                <a:cs typeface="Meiryo" pitchFamily="34" charset="-120"/>
              </a:rPr>
              <a:t>AIチャットボット</a:t>
            </a:r>
            <a:endParaRPr lang="en-US" sz="1300" dirty="0"/>
          </a:p>
          <a:p>
            <a:pPr indent="0" marL="0">
              <a:lnSpc>
                <a:spcPct val="108000"/>
              </a:lnSpc>
              <a:buNone/>
            </a:pPr>
            <a:r>
              <a:rPr lang="en-US" sz="950" dirty="0">
                <a:solidFill>
                  <a:srgbClr val="6B7A90"/>
                </a:solidFill>
                <a:latin typeface="Meiryo" pitchFamily="34" charset="0"/>
                <a:ea typeface="Meiryo" pitchFamily="34" charset="-122"/>
                <a:cs typeface="Meiryo" pitchFamily="34" charset="-120"/>
              </a:rPr>
              <a:t>AI chatbot</a:t>
            </a:r>
            <a:endParaRPr lang="en-US" sz="1300" dirty="0"/>
          </a:p>
          <a:p>
            <a:pPr indent="0" marL="0">
              <a:lnSpc>
                <a:spcPct val="108000"/>
              </a:lnSpc>
              <a:buNone/>
            </a:pPr>
            <a:r>
              <a:rPr lang="en-US" sz="1000" dirty="0">
                <a:solidFill>
                  <a:srgbClr val="0F766E"/>
                </a:solidFill>
                <a:latin typeface="Meiryo" pitchFamily="34" charset="0"/>
                <a:ea typeface="Meiryo" pitchFamily="34" charset="-122"/>
                <a:cs typeface="Meiryo" pitchFamily="34" charset="-120"/>
              </a:rPr>
              <a:t>エージェント化 PoC / agent rebuild</a:t>
            </a:r>
            <a:endParaRPr lang="en-US" sz="1300" dirty="0"/>
          </a:p>
        </p:txBody>
      </p:sp>
      <p:sp>
        <p:nvSpPr>
          <p:cNvPr id="19" name="Shape 17"/>
          <p:cNvSpPr/>
          <p:nvPr/>
        </p:nvSpPr>
        <p:spPr>
          <a:xfrm>
            <a:off x="10637215" y="2194560"/>
            <a:ext cx="274320" cy="274320"/>
          </a:xfrm>
          <a:prstGeom prst="ellipse">
            <a:avLst/>
          </a:prstGeom>
          <a:solidFill>
            <a:srgbClr val="C0603A"/>
          </a:solidFill>
          <a:ln/>
        </p:spPr>
      </p:sp>
      <p:sp>
        <p:nvSpPr>
          <p:cNvPr id="20" name="Text 18"/>
          <p:cNvSpPr/>
          <p:nvPr/>
        </p:nvSpPr>
        <p:spPr>
          <a:xfrm>
            <a:off x="9768535" y="1673352"/>
            <a:ext cx="2011680" cy="320040"/>
          </a:xfrm>
          <a:prstGeom prst="rect">
            <a:avLst/>
          </a:prstGeom>
          <a:noFill/>
          <a:ln/>
        </p:spPr>
        <p:txBody>
          <a:bodyPr wrap="square" lIns="0" tIns="0" rIns="0" bIns="0" rtlCol="0" anchor="ctr"/>
          <a:lstStyle/>
          <a:p>
            <a:pPr algn="ctr" indent="0" marL="0">
              <a:buNone/>
            </a:pPr>
            <a:r>
              <a:rPr lang="en-US" sz="1250" b="1" dirty="0">
                <a:solidFill>
                  <a:srgbClr val="C0603A"/>
                </a:solidFill>
                <a:latin typeface="Meiryo" pitchFamily="34" charset="0"/>
                <a:ea typeface="Meiryo" pitchFamily="34" charset="-122"/>
                <a:cs typeface="Meiryo" pitchFamily="34" charset="-120"/>
              </a:rPr>
              <a:t>2026.04–</a:t>
            </a:r>
            <a:endParaRPr lang="en-US" sz="1250" dirty="0"/>
          </a:p>
        </p:txBody>
      </p:sp>
      <p:sp>
        <p:nvSpPr>
          <p:cNvPr id="21" name="Shape 19"/>
          <p:cNvSpPr/>
          <p:nvPr/>
        </p:nvSpPr>
        <p:spPr>
          <a:xfrm>
            <a:off x="9517075" y="2715768"/>
            <a:ext cx="2514600" cy="1691640"/>
          </a:xfrm>
          <a:prstGeom prst="roundRect">
            <a:avLst>
              <a:gd name="adj" fmla="val 4865"/>
            </a:avLst>
          </a:prstGeom>
          <a:solidFill>
            <a:srgbClr val="F4F7FB"/>
          </a:solidFill>
          <a:ln/>
          <a:effectLst>
            <a:outerShdw sx="100000" sy="100000" kx="0" ky="0" algn="bl" rotWithShape="0" blurRad="114300" dist="38100" dir="5400000">
              <a:srgbClr val="9AA7B8">
                <a:alpha val="28000"/>
              </a:srgbClr>
            </a:outerShdw>
          </a:effectLst>
        </p:spPr>
      </p:sp>
      <p:sp>
        <p:nvSpPr>
          <p:cNvPr id="22" name="Text 20"/>
          <p:cNvSpPr/>
          <p:nvPr/>
        </p:nvSpPr>
        <p:spPr>
          <a:xfrm>
            <a:off x="9681667" y="2862072"/>
            <a:ext cx="2185416" cy="1417320"/>
          </a:xfrm>
          <a:prstGeom prst="rect">
            <a:avLst/>
          </a:prstGeom>
          <a:noFill/>
          <a:ln/>
        </p:spPr>
        <p:txBody>
          <a:bodyPr wrap="square" lIns="0" tIns="0" rIns="0" bIns="0" rtlCol="0" anchor="t"/>
          <a:lstStyle/>
          <a:p>
            <a:pPr indent="0" marL="0">
              <a:lnSpc>
                <a:spcPct val="108000"/>
              </a:lnSpc>
              <a:buNone/>
            </a:pPr>
            <a:r>
              <a:rPr lang="en-US" sz="1300" b="1" dirty="0">
                <a:solidFill>
                  <a:srgbClr val="1E293B"/>
                </a:solidFill>
                <a:latin typeface="Meiryo" pitchFamily="34" charset="0"/>
                <a:ea typeface="Meiryo" pitchFamily="34" charset="-122"/>
                <a:cs typeface="Meiryo" pitchFamily="34" charset="-120"/>
              </a:rPr>
              <a:t>物販レコメンド / 品目管理</a:t>
            </a:r>
            <a:endParaRPr lang="en-US" sz="1300" dirty="0"/>
          </a:p>
          <a:p>
            <a:pPr indent="0" marL="0">
              <a:lnSpc>
                <a:spcPct val="108000"/>
              </a:lnSpc>
              <a:buNone/>
            </a:pPr>
            <a:r>
              <a:rPr lang="en-US" sz="950" dirty="0">
                <a:solidFill>
                  <a:srgbClr val="6B7A90"/>
                </a:solidFill>
                <a:latin typeface="Meiryo" pitchFamily="34" charset="0"/>
                <a:ea typeface="Meiryo" pitchFamily="34" charset="-122"/>
                <a:cs typeface="Meiryo" pitchFamily="34" charset="-120"/>
              </a:rPr>
              <a:t>Product rec. / inventory</a:t>
            </a:r>
            <a:endParaRPr lang="en-US" sz="1300" dirty="0"/>
          </a:p>
          <a:p>
            <a:pPr indent="0" marL="0">
              <a:lnSpc>
                <a:spcPct val="108000"/>
              </a:lnSpc>
              <a:buNone/>
            </a:pPr>
            <a:r>
              <a:rPr lang="en-US" sz="1000" dirty="0">
                <a:solidFill>
                  <a:srgbClr val="0F766E"/>
                </a:solidFill>
                <a:latin typeface="Meiryo" pitchFamily="34" charset="0"/>
                <a:ea typeface="Meiryo" pitchFamily="34" charset="-122"/>
                <a:cs typeface="Meiryo" pitchFamily="34" charset="-120"/>
              </a:rPr>
              <a:t>PoC (進行中 / ongoing)</a:t>
            </a:r>
            <a:endParaRPr lang="en-US" sz="1300" dirty="0"/>
          </a:p>
        </p:txBody>
      </p:sp>
      <p:sp>
        <p:nvSpPr>
          <p:cNvPr id="23" name="Shape 21"/>
          <p:cNvSpPr/>
          <p:nvPr/>
        </p:nvSpPr>
        <p:spPr>
          <a:xfrm>
            <a:off x="640080" y="4617720"/>
            <a:ext cx="10927080" cy="1554480"/>
          </a:xfrm>
          <a:prstGeom prst="roundRect">
            <a:avLst>
              <a:gd name="adj" fmla="val 5294"/>
            </a:avLst>
          </a:prstGeom>
          <a:solidFill>
            <a:srgbClr val="16233D"/>
          </a:solidFill>
          <a:ln/>
          <a:effectLst>
            <a:outerShdw sx="100000" sy="100000" kx="0" ky="0" algn="bl" rotWithShape="0" blurRad="114300" dist="38100" dir="5400000">
              <a:srgbClr val="9AA7B8">
                <a:alpha val="28000"/>
              </a:srgbClr>
            </a:outerShdw>
          </a:effectLst>
        </p:spPr>
      </p:sp>
      <p:sp>
        <p:nvSpPr>
          <p:cNvPr id="24" name="Text 22"/>
          <p:cNvSpPr/>
          <p:nvPr/>
        </p:nvSpPr>
        <p:spPr>
          <a:xfrm>
            <a:off x="914400" y="4754880"/>
            <a:ext cx="10424160" cy="73152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Meiryo" pitchFamily="34" charset="0"/>
                <a:ea typeface="Meiryo" pitchFamily="34" charset="-122"/>
                <a:cs typeface="Meiryo" pitchFamily="34" charset="-120"/>
              </a:rPr>
              <a:t>活用範囲は段階的に拡大 — 開始時点で全機能が揃っていたわけではなく、Claudeの新機能追加に合わせて順次取り入れました。</a:t>
            </a:r>
            <a:endParaRPr lang="en-US" sz="1300" dirty="0"/>
          </a:p>
          <a:p>
            <a:pPr indent="0" marL="0">
              <a:lnSpc>
                <a:spcPct val="105000"/>
              </a:lnSpc>
              <a:buNone/>
            </a:pPr>
            <a:r>
              <a:rPr lang="en-US" sz="1050" dirty="0">
                <a:solidFill>
                  <a:srgbClr val="9FB0C9"/>
                </a:solidFill>
                <a:latin typeface="Meiryo" pitchFamily="34" charset="0"/>
                <a:ea typeface="Meiryo" pitchFamily="34" charset="-122"/>
                <a:cs typeface="Meiryo" pitchFamily="34" charset="-120"/>
              </a:rPr>
              <a:t>Not every capability existed at the start — as Claude added features, I adopted them one by one and widened how I used it.</a:t>
            </a:r>
            <a:endParaRPr lang="en-US" sz="1300" dirty="0"/>
          </a:p>
        </p:txBody>
      </p:sp>
      <p:sp>
        <p:nvSpPr>
          <p:cNvPr id="25" name="Shape 23"/>
          <p:cNvSpPr/>
          <p:nvPr/>
        </p:nvSpPr>
        <p:spPr>
          <a:xfrm>
            <a:off x="914400" y="5532120"/>
            <a:ext cx="2395728" cy="512064"/>
          </a:xfrm>
          <a:prstGeom prst="roundRect">
            <a:avLst>
              <a:gd name="adj" fmla="val 50000"/>
            </a:avLst>
          </a:prstGeom>
          <a:solidFill>
            <a:srgbClr val="22355C"/>
          </a:solidFill>
          <a:ln/>
        </p:spPr>
      </p:sp>
      <p:sp>
        <p:nvSpPr>
          <p:cNvPr id="26" name="Text 24"/>
          <p:cNvSpPr/>
          <p:nvPr/>
        </p:nvSpPr>
        <p:spPr>
          <a:xfrm>
            <a:off x="1024128" y="5550408"/>
            <a:ext cx="2176272" cy="47548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eiryo" pitchFamily="34" charset="0"/>
                <a:ea typeface="Meiryo" pitchFamily="34" charset="-122"/>
                <a:cs typeface="Meiryo" pitchFamily="34" charset="-120"/>
              </a:rPr>
              <a:t>チャットで調査・分析</a:t>
            </a:r>
            <a:endParaRPr lang="en-US" sz="1000" dirty="0"/>
          </a:p>
          <a:p>
            <a:pPr algn="ctr" indent="0" marL="0">
              <a:lnSpc>
                <a:spcPct val="95000"/>
              </a:lnSpc>
              <a:buNone/>
            </a:pPr>
            <a:r>
              <a:rPr lang="en-US" sz="800" dirty="0">
                <a:solidFill>
                  <a:srgbClr val="9FB0C9"/>
                </a:solidFill>
                <a:latin typeface="Meiryo" pitchFamily="34" charset="0"/>
                <a:ea typeface="Meiryo" pitchFamily="34" charset="-122"/>
                <a:cs typeface="Meiryo" pitchFamily="34" charset="-120"/>
              </a:rPr>
              <a:t>Chat: research</a:t>
            </a:r>
            <a:endParaRPr lang="en-US" sz="1000" dirty="0"/>
          </a:p>
        </p:txBody>
      </p:sp>
      <p:pic>
        <p:nvPicPr>
          <p:cNvPr id="27" name="Image 0" descr="preencoded.png">    </p:cNvPr>
          <p:cNvPicPr>
            <a:picLocks noChangeAspect="1"/>
          </p:cNvPicPr>
          <p:nvPr/>
        </p:nvPicPr>
        <p:blipFill>
          <a:blip r:embed="rId1"/>
          <a:stretch>
            <a:fillRect/>
          </a:stretch>
        </p:blipFill>
        <p:spPr>
          <a:xfrm>
            <a:off x="3328416" y="5687568"/>
            <a:ext cx="182880" cy="182880"/>
          </a:xfrm>
          <a:prstGeom prst="rect">
            <a:avLst/>
          </a:prstGeom>
        </p:spPr>
      </p:pic>
      <p:sp>
        <p:nvSpPr>
          <p:cNvPr id="28" name="Shape 25"/>
          <p:cNvSpPr/>
          <p:nvPr/>
        </p:nvSpPr>
        <p:spPr>
          <a:xfrm>
            <a:off x="3538728" y="5532120"/>
            <a:ext cx="2395728" cy="512064"/>
          </a:xfrm>
          <a:prstGeom prst="roundRect">
            <a:avLst>
              <a:gd name="adj" fmla="val 50000"/>
            </a:avLst>
          </a:prstGeom>
          <a:solidFill>
            <a:srgbClr val="22355C"/>
          </a:solidFill>
          <a:ln/>
        </p:spPr>
      </p:sp>
      <p:sp>
        <p:nvSpPr>
          <p:cNvPr id="29" name="Text 26"/>
          <p:cNvSpPr/>
          <p:nvPr/>
        </p:nvSpPr>
        <p:spPr>
          <a:xfrm>
            <a:off x="3648456" y="5550408"/>
            <a:ext cx="2176272" cy="47548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eiryo" pitchFamily="34" charset="0"/>
                <a:ea typeface="Meiryo" pitchFamily="34" charset="-122"/>
                <a:cs typeface="Meiryo" pitchFamily="34" charset="-120"/>
              </a:rPr>
              <a:t>コード生成</a:t>
            </a:r>
            <a:endParaRPr lang="en-US" sz="1000" dirty="0"/>
          </a:p>
          <a:p>
            <a:pPr algn="ctr" indent="0" marL="0">
              <a:lnSpc>
                <a:spcPct val="95000"/>
              </a:lnSpc>
              <a:buNone/>
            </a:pPr>
            <a:r>
              <a:rPr lang="en-US" sz="800" dirty="0">
                <a:solidFill>
                  <a:srgbClr val="9FB0C9"/>
                </a:solidFill>
                <a:latin typeface="Meiryo" pitchFamily="34" charset="0"/>
                <a:ea typeface="Meiryo" pitchFamily="34" charset="-122"/>
                <a:cs typeface="Meiryo" pitchFamily="34" charset="-120"/>
              </a:rPr>
              <a:t>Code gen</a:t>
            </a:r>
            <a:endParaRPr lang="en-US" sz="1000" dirty="0"/>
          </a:p>
        </p:txBody>
      </p:sp>
      <p:pic>
        <p:nvPicPr>
          <p:cNvPr id="30" name="Image 1" descr="preencoded.png">    </p:cNvPr>
          <p:cNvPicPr>
            <a:picLocks noChangeAspect="1"/>
          </p:cNvPicPr>
          <p:nvPr/>
        </p:nvPicPr>
        <p:blipFill>
          <a:blip r:embed="rId2"/>
          <a:stretch>
            <a:fillRect/>
          </a:stretch>
        </p:blipFill>
        <p:spPr>
          <a:xfrm>
            <a:off x="5952744" y="5687568"/>
            <a:ext cx="182880" cy="182880"/>
          </a:xfrm>
          <a:prstGeom prst="rect">
            <a:avLst/>
          </a:prstGeom>
        </p:spPr>
      </p:pic>
      <p:sp>
        <p:nvSpPr>
          <p:cNvPr id="31" name="Shape 27"/>
          <p:cNvSpPr/>
          <p:nvPr/>
        </p:nvSpPr>
        <p:spPr>
          <a:xfrm>
            <a:off x="6163056" y="5532120"/>
            <a:ext cx="2395728" cy="512064"/>
          </a:xfrm>
          <a:prstGeom prst="roundRect">
            <a:avLst>
              <a:gd name="adj" fmla="val 50000"/>
            </a:avLst>
          </a:prstGeom>
          <a:solidFill>
            <a:srgbClr val="22355C"/>
          </a:solidFill>
          <a:ln/>
        </p:spPr>
      </p:sp>
      <p:sp>
        <p:nvSpPr>
          <p:cNvPr id="32" name="Text 28"/>
          <p:cNvSpPr/>
          <p:nvPr/>
        </p:nvSpPr>
        <p:spPr>
          <a:xfrm>
            <a:off x="6272784" y="5550408"/>
            <a:ext cx="2176272" cy="47548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eiryo" pitchFamily="34" charset="0"/>
                <a:ea typeface="Meiryo" pitchFamily="34" charset="-122"/>
                <a:cs typeface="Meiryo" pitchFamily="34" charset="-120"/>
              </a:rPr>
              <a:t>Claude Code で開発・QA</a:t>
            </a:r>
            <a:endParaRPr lang="en-US" sz="1000" dirty="0"/>
          </a:p>
          <a:p>
            <a:pPr algn="ctr" indent="0" marL="0">
              <a:lnSpc>
                <a:spcPct val="95000"/>
              </a:lnSpc>
              <a:buNone/>
            </a:pPr>
            <a:r>
              <a:rPr lang="en-US" sz="800" dirty="0">
                <a:solidFill>
                  <a:srgbClr val="9FB0C9"/>
                </a:solidFill>
                <a:latin typeface="Meiryo" pitchFamily="34" charset="0"/>
                <a:ea typeface="Meiryo" pitchFamily="34" charset="-122"/>
                <a:cs typeface="Meiryo" pitchFamily="34" charset="-120"/>
              </a:rPr>
              <a:t>Claude Code: dev &amp; QA</a:t>
            </a:r>
            <a:endParaRPr lang="en-US" sz="1000" dirty="0"/>
          </a:p>
        </p:txBody>
      </p:sp>
      <p:pic>
        <p:nvPicPr>
          <p:cNvPr id="33" name="Image 2" descr="preencoded.png">    </p:cNvPr>
          <p:cNvPicPr>
            <a:picLocks noChangeAspect="1"/>
          </p:cNvPicPr>
          <p:nvPr/>
        </p:nvPicPr>
        <p:blipFill>
          <a:blip r:embed="rId3"/>
          <a:stretch>
            <a:fillRect/>
          </a:stretch>
        </p:blipFill>
        <p:spPr>
          <a:xfrm>
            <a:off x="8577072" y="5687568"/>
            <a:ext cx="182880" cy="182880"/>
          </a:xfrm>
          <a:prstGeom prst="rect">
            <a:avLst/>
          </a:prstGeom>
        </p:spPr>
      </p:pic>
      <p:sp>
        <p:nvSpPr>
          <p:cNvPr id="34" name="Shape 29"/>
          <p:cNvSpPr/>
          <p:nvPr/>
        </p:nvSpPr>
        <p:spPr>
          <a:xfrm>
            <a:off x="8787384" y="5532120"/>
            <a:ext cx="2395728" cy="512064"/>
          </a:xfrm>
          <a:prstGeom prst="roundRect">
            <a:avLst>
              <a:gd name="adj" fmla="val 50000"/>
            </a:avLst>
          </a:prstGeom>
          <a:solidFill>
            <a:srgbClr val="22355C"/>
          </a:solidFill>
          <a:ln/>
        </p:spPr>
      </p:sp>
      <p:sp>
        <p:nvSpPr>
          <p:cNvPr id="35" name="Text 30"/>
          <p:cNvSpPr/>
          <p:nvPr/>
        </p:nvSpPr>
        <p:spPr>
          <a:xfrm>
            <a:off x="8897112" y="5550408"/>
            <a:ext cx="2176272" cy="47548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eiryo" pitchFamily="34" charset="0"/>
                <a:ea typeface="Meiryo" pitchFamily="34" charset="-122"/>
                <a:cs typeface="Meiryo" pitchFamily="34" charset="-120"/>
              </a:rPr>
              <a:t>Claude Design / Cowork で設計・資料</a:t>
            </a:r>
            <a:endParaRPr lang="en-US" sz="1000" dirty="0"/>
          </a:p>
          <a:p>
            <a:pPr algn="ctr" indent="0" marL="0">
              <a:lnSpc>
                <a:spcPct val="95000"/>
              </a:lnSpc>
              <a:buNone/>
            </a:pPr>
            <a:r>
              <a:rPr lang="en-US" sz="800" dirty="0">
                <a:solidFill>
                  <a:srgbClr val="9FB0C9"/>
                </a:solidFill>
                <a:latin typeface="Meiryo" pitchFamily="34" charset="0"/>
                <a:ea typeface="Meiryo" pitchFamily="34" charset="-122"/>
                <a:cs typeface="Meiryo" pitchFamily="34" charset="-120"/>
              </a:rPr>
              <a:t>Design / Cowork: assets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Claude の活用方法</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How I Used Claude</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640080" y="1691640"/>
            <a:ext cx="10927080" cy="868680"/>
          </a:xfrm>
          <a:prstGeom prst="roundRect">
            <a:avLst>
              <a:gd name="adj" fmla="val 9474"/>
            </a:avLst>
          </a:prstGeom>
          <a:solidFill>
            <a:srgbClr val="F4F7FB"/>
          </a:solidFill>
          <a:ln/>
          <a:effectLst>
            <a:outerShdw sx="100000" sy="100000" kx="0" ky="0" algn="bl" rotWithShape="0" blurRad="114300" dist="38100" dir="5400000">
              <a:srgbClr val="9AA7B8">
                <a:alpha val="28000"/>
              </a:srgbClr>
            </a:outerShdw>
          </a:effectLst>
        </p:spPr>
      </p:sp>
      <p:sp>
        <p:nvSpPr>
          <p:cNvPr id="7" name="Shape 5"/>
          <p:cNvSpPr/>
          <p:nvPr/>
        </p:nvSpPr>
        <p:spPr>
          <a:xfrm>
            <a:off x="841248" y="1842516"/>
            <a:ext cx="566928" cy="566928"/>
          </a:xfrm>
          <a:prstGeom prst="ellipse">
            <a:avLst/>
          </a:prstGeom>
          <a:solidFill>
            <a:srgbClr val="0F766E"/>
          </a:solidFill>
          <a:ln/>
        </p:spPr>
      </p:sp>
      <p:pic>
        <p:nvPicPr>
          <p:cNvPr id="8" name="Image 0" descr="preencoded.png">    </p:cNvPr>
          <p:cNvPicPr>
            <a:picLocks noChangeAspect="1"/>
          </p:cNvPicPr>
          <p:nvPr/>
        </p:nvPicPr>
        <p:blipFill>
          <a:blip r:embed="rId1"/>
          <a:stretch>
            <a:fillRect/>
          </a:stretch>
        </p:blipFill>
        <p:spPr>
          <a:xfrm>
            <a:off x="988649" y="1989917"/>
            <a:ext cx="272125" cy="272125"/>
          </a:xfrm>
          <a:prstGeom prst="rect">
            <a:avLst/>
          </a:prstGeom>
        </p:spPr>
      </p:pic>
      <p:sp>
        <p:nvSpPr>
          <p:cNvPr id="9" name="Text 6"/>
          <p:cNvSpPr/>
          <p:nvPr/>
        </p:nvSpPr>
        <p:spPr>
          <a:xfrm>
            <a:off x="1600200" y="1801368"/>
            <a:ext cx="3063240" cy="649224"/>
          </a:xfrm>
          <a:prstGeom prst="rect">
            <a:avLst/>
          </a:prstGeom>
          <a:noFill/>
          <a:ln/>
        </p:spPr>
        <p:txBody>
          <a:bodyPr wrap="square" lIns="0" tIns="0" rIns="0" bIns="0" rtlCol="0" anchor="ctr"/>
          <a:lstStyle/>
          <a:p>
            <a:pPr indent="0" marL="0">
              <a:buNone/>
            </a:pPr>
            <a:r>
              <a:rPr lang="en-US" sz="1400" b="1" dirty="0">
                <a:solidFill>
                  <a:srgbClr val="1E293B"/>
                </a:solidFill>
                <a:latin typeface="Meiryo" pitchFamily="34" charset="0"/>
                <a:ea typeface="Meiryo" pitchFamily="34" charset="-122"/>
                <a:cs typeface="Meiryo" pitchFamily="34" charset="-120"/>
              </a:rPr>
              <a:t>調査・リサーチ  </a:t>
            </a:r>
            <a:pPr indent="0" marL="0">
              <a:buNone/>
            </a:pPr>
            <a:r>
              <a:rPr lang="en-US" sz="1050" dirty="0">
                <a:solidFill>
                  <a:srgbClr val="6B7A90"/>
                </a:solidFill>
                <a:latin typeface="Meiryo" pitchFamily="34" charset="0"/>
                <a:ea typeface="Meiryo" pitchFamily="34" charset="-122"/>
                <a:cs typeface="Meiryo" pitchFamily="34" charset="-120"/>
              </a:rPr>
              <a:t>Research</a:t>
            </a:r>
            <a:endParaRPr lang="en-US" sz="1400" dirty="0"/>
          </a:p>
        </p:txBody>
      </p:sp>
      <p:sp>
        <p:nvSpPr>
          <p:cNvPr id="10" name="Text 7"/>
          <p:cNvSpPr/>
          <p:nvPr/>
        </p:nvSpPr>
        <p:spPr>
          <a:xfrm>
            <a:off x="4754880" y="1783080"/>
            <a:ext cx="6583680" cy="685800"/>
          </a:xfrm>
          <a:prstGeom prst="rect">
            <a:avLst/>
          </a:prstGeom>
          <a:noFill/>
          <a:ln/>
        </p:spPr>
        <p:txBody>
          <a:bodyPr wrap="square" lIns="0" tIns="0" rIns="0" bIns="0" rtlCol="0" anchor="ctr"/>
          <a:lstStyle/>
          <a:p>
            <a:pPr indent="0" marL="0">
              <a:lnSpc>
                <a:spcPct val="103000"/>
              </a:lnSpc>
              <a:buNone/>
            </a:pPr>
            <a:r>
              <a:rPr lang="en-US" sz="1200" dirty="0">
                <a:solidFill>
                  <a:srgbClr val="1E293B"/>
                </a:solidFill>
                <a:latin typeface="Meiryo" pitchFamily="34" charset="0"/>
                <a:ea typeface="Meiryo" pitchFamily="34" charset="-122"/>
                <a:cs typeface="Meiryo" pitchFamily="34" charset="-120"/>
              </a:rPr>
              <a:t>技術調査・実現性検証を大幅に短縮。</a:t>
            </a:r>
            <a:endParaRPr lang="en-US" sz="1200" dirty="0"/>
          </a:p>
          <a:p>
            <a:pPr indent="0" marL="0">
              <a:lnSpc>
                <a:spcPct val="103000"/>
              </a:lnSpc>
              <a:buNone/>
            </a:pPr>
            <a:r>
              <a:rPr lang="en-US" sz="1000" dirty="0">
                <a:solidFill>
                  <a:srgbClr val="6B7A90"/>
                </a:solidFill>
                <a:latin typeface="Meiryo" pitchFamily="34" charset="0"/>
                <a:ea typeface="Meiryo" pitchFamily="34" charset="-122"/>
                <a:cs typeface="Meiryo" pitchFamily="34" charset="-120"/>
              </a:rPr>
              <a:t>Faster feasibility studies and background research.</a:t>
            </a:r>
            <a:endParaRPr lang="en-US" sz="1200" dirty="0"/>
          </a:p>
        </p:txBody>
      </p:sp>
      <p:sp>
        <p:nvSpPr>
          <p:cNvPr id="11" name="Shape 8"/>
          <p:cNvSpPr/>
          <p:nvPr/>
        </p:nvSpPr>
        <p:spPr>
          <a:xfrm>
            <a:off x="640080" y="2642616"/>
            <a:ext cx="10927080" cy="868680"/>
          </a:xfrm>
          <a:prstGeom prst="roundRect">
            <a:avLst>
              <a:gd name="adj" fmla="val 9474"/>
            </a:avLst>
          </a:prstGeom>
          <a:solidFill>
            <a:srgbClr val="F4F7FB"/>
          </a:solidFill>
          <a:ln/>
          <a:effectLst>
            <a:outerShdw sx="100000" sy="100000" kx="0" ky="0" algn="bl" rotWithShape="0" blurRad="114300" dist="38100" dir="5400000">
              <a:srgbClr val="9AA7B8">
                <a:alpha val="28000"/>
              </a:srgbClr>
            </a:outerShdw>
          </a:effectLst>
        </p:spPr>
      </p:sp>
      <p:sp>
        <p:nvSpPr>
          <p:cNvPr id="12" name="Shape 9"/>
          <p:cNvSpPr/>
          <p:nvPr/>
        </p:nvSpPr>
        <p:spPr>
          <a:xfrm>
            <a:off x="841248" y="2793492"/>
            <a:ext cx="566928" cy="566928"/>
          </a:xfrm>
          <a:prstGeom prst="ellipse">
            <a:avLst/>
          </a:prstGeom>
          <a:solidFill>
            <a:srgbClr val="C0603A"/>
          </a:solidFill>
          <a:ln/>
        </p:spPr>
      </p:sp>
      <p:pic>
        <p:nvPicPr>
          <p:cNvPr id="13" name="Image 1" descr="preencoded.png">    </p:cNvPr>
          <p:cNvPicPr>
            <a:picLocks noChangeAspect="1"/>
          </p:cNvPicPr>
          <p:nvPr/>
        </p:nvPicPr>
        <p:blipFill>
          <a:blip r:embed="rId2"/>
          <a:stretch>
            <a:fillRect/>
          </a:stretch>
        </p:blipFill>
        <p:spPr>
          <a:xfrm>
            <a:off x="988649" y="2940893"/>
            <a:ext cx="272125" cy="272125"/>
          </a:xfrm>
          <a:prstGeom prst="rect">
            <a:avLst/>
          </a:prstGeom>
        </p:spPr>
      </p:pic>
      <p:sp>
        <p:nvSpPr>
          <p:cNvPr id="14" name="Text 10"/>
          <p:cNvSpPr/>
          <p:nvPr/>
        </p:nvSpPr>
        <p:spPr>
          <a:xfrm>
            <a:off x="1600200" y="2752344"/>
            <a:ext cx="3063240" cy="649224"/>
          </a:xfrm>
          <a:prstGeom prst="rect">
            <a:avLst/>
          </a:prstGeom>
          <a:noFill/>
          <a:ln/>
        </p:spPr>
        <p:txBody>
          <a:bodyPr wrap="square" lIns="0" tIns="0" rIns="0" bIns="0" rtlCol="0" anchor="ctr"/>
          <a:lstStyle/>
          <a:p>
            <a:pPr indent="0" marL="0">
              <a:buNone/>
            </a:pPr>
            <a:r>
              <a:rPr lang="en-US" sz="1400" b="1" dirty="0">
                <a:solidFill>
                  <a:srgbClr val="1E293B"/>
                </a:solidFill>
                <a:latin typeface="Meiryo" pitchFamily="34" charset="0"/>
                <a:ea typeface="Meiryo" pitchFamily="34" charset="-122"/>
                <a:cs typeface="Meiryo" pitchFamily="34" charset="-120"/>
              </a:rPr>
              <a:t>データ分析  </a:t>
            </a:r>
            <a:pPr indent="0" marL="0">
              <a:buNone/>
            </a:pPr>
            <a:r>
              <a:rPr lang="en-US" sz="1050" dirty="0">
                <a:solidFill>
                  <a:srgbClr val="6B7A90"/>
                </a:solidFill>
                <a:latin typeface="Meiryo" pitchFamily="34" charset="0"/>
                <a:ea typeface="Meiryo" pitchFamily="34" charset="-122"/>
                <a:cs typeface="Meiryo" pitchFamily="34" charset="-120"/>
              </a:rPr>
              <a:t>Data analysis</a:t>
            </a:r>
            <a:endParaRPr lang="en-US" sz="1400" dirty="0"/>
          </a:p>
        </p:txBody>
      </p:sp>
      <p:sp>
        <p:nvSpPr>
          <p:cNvPr id="15" name="Text 11"/>
          <p:cNvSpPr/>
          <p:nvPr/>
        </p:nvSpPr>
        <p:spPr>
          <a:xfrm>
            <a:off x="4754880" y="2734056"/>
            <a:ext cx="6583680" cy="685800"/>
          </a:xfrm>
          <a:prstGeom prst="rect">
            <a:avLst/>
          </a:prstGeom>
          <a:noFill/>
          <a:ln/>
        </p:spPr>
        <p:txBody>
          <a:bodyPr wrap="square" lIns="0" tIns="0" rIns="0" bIns="0" rtlCol="0" anchor="ctr"/>
          <a:lstStyle/>
          <a:p>
            <a:pPr indent="0" marL="0">
              <a:lnSpc>
                <a:spcPct val="103000"/>
              </a:lnSpc>
              <a:buNone/>
            </a:pPr>
            <a:r>
              <a:rPr lang="en-US" sz="1200" dirty="0">
                <a:solidFill>
                  <a:srgbClr val="1E293B"/>
                </a:solidFill>
                <a:latin typeface="Meiryo" pitchFamily="34" charset="0"/>
                <a:ea typeface="Meiryo" pitchFamily="34" charset="-122"/>
                <a:cs typeface="Meiryo" pitchFamily="34" charset="-120"/>
              </a:rPr>
              <a:t>秘匿化したデータを熟練アナリストのように分析し、示唆を高速抽出。</a:t>
            </a:r>
            <a:endParaRPr lang="en-US" sz="1200" dirty="0"/>
          </a:p>
          <a:p>
            <a:pPr indent="0" marL="0">
              <a:lnSpc>
                <a:spcPct val="103000"/>
              </a:lnSpc>
              <a:buNone/>
            </a:pPr>
            <a:r>
              <a:rPr lang="en-US" sz="1000" dirty="0">
                <a:solidFill>
                  <a:srgbClr val="6B7A90"/>
                </a:solidFill>
                <a:latin typeface="Meiryo" pitchFamily="34" charset="0"/>
                <a:ea typeface="Meiryo" pitchFamily="34" charset="-122"/>
                <a:cs typeface="Meiryo" pitchFamily="34" charset="-120"/>
              </a:rPr>
              <a:t>Analyzed redacted data like a seasoned analyst — surfacing insights fast.</a:t>
            </a:r>
            <a:endParaRPr lang="en-US" sz="1200" dirty="0"/>
          </a:p>
        </p:txBody>
      </p:sp>
      <p:sp>
        <p:nvSpPr>
          <p:cNvPr id="16" name="Shape 12"/>
          <p:cNvSpPr/>
          <p:nvPr/>
        </p:nvSpPr>
        <p:spPr>
          <a:xfrm>
            <a:off x="640080" y="3593592"/>
            <a:ext cx="10927080" cy="868680"/>
          </a:xfrm>
          <a:prstGeom prst="roundRect">
            <a:avLst>
              <a:gd name="adj" fmla="val 9474"/>
            </a:avLst>
          </a:prstGeom>
          <a:solidFill>
            <a:srgbClr val="F4F7FB"/>
          </a:solidFill>
          <a:ln/>
          <a:effectLst>
            <a:outerShdw sx="100000" sy="100000" kx="0" ky="0" algn="bl" rotWithShape="0" blurRad="114300" dist="38100" dir="5400000">
              <a:srgbClr val="9AA7B8">
                <a:alpha val="28000"/>
              </a:srgbClr>
            </a:outerShdw>
          </a:effectLst>
        </p:spPr>
      </p:sp>
      <p:sp>
        <p:nvSpPr>
          <p:cNvPr id="17" name="Shape 13"/>
          <p:cNvSpPr/>
          <p:nvPr/>
        </p:nvSpPr>
        <p:spPr>
          <a:xfrm>
            <a:off x="841248" y="3744468"/>
            <a:ext cx="566928" cy="566928"/>
          </a:xfrm>
          <a:prstGeom prst="ellipse">
            <a:avLst/>
          </a:prstGeom>
          <a:solidFill>
            <a:srgbClr val="0F766E"/>
          </a:solidFill>
          <a:ln/>
        </p:spPr>
      </p:sp>
      <p:pic>
        <p:nvPicPr>
          <p:cNvPr id="18" name="Image 2" descr="preencoded.png">    </p:cNvPr>
          <p:cNvPicPr>
            <a:picLocks noChangeAspect="1"/>
          </p:cNvPicPr>
          <p:nvPr/>
        </p:nvPicPr>
        <p:blipFill>
          <a:blip r:embed="rId3"/>
          <a:stretch>
            <a:fillRect/>
          </a:stretch>
        </p:blipFill>
        <p:spPr>
          <a:xfrm>
            <a:off x="988649" y="3891869"/>
            <a:ext cx="272125" cy="272125"/>
          </a:xfrm>
          <a:prstGeom prst="rect">
            <a:avLst/>
          </a:prstGeom>
        </p:spPr>
      </p:pic>
      <p:sp>
        <p:nvSpPr>
          <p:cNvPr id="19" name="Text 14"/>
          <p:cNvSpPr/>
          <p:nvPr/>
        </p:nvSpPr>
        <p:spPr>
          <a:xfrm>
            <a:off x="1600200" y="3703320"/>
            <a:ext cx="3063240" cy="649224"/>
          </a:xfrm>
          <a:prstGeom prst="rect">
            <a:avLst/>
          </a:prstGeom>
          <a:noFill/>
          <a:ln/>
        </p:spPr>
        <p:txBody>
          <a:bodyPr wrap="square" lIns="0" tIns="0" rIns="0" bIns="0" rtlCol="0" anchor="ctr"/>
          <a:lstStyle/>
          <a:p>
            <a:pPr indent="0" marL="0">
              <a:buNone/>
            </a:pPr>
            <a:r>
              <a:rPr lang="en-US" sz="1400" b="1" dirty="0">
                <a:solidFill>
                  <a:srgbClr val="1E293B"/>
                </a:solidFill>
                <a:latin typeface="Meiryo" pitchFamily="34" charset="0"/>
                <a:ea typeface="Meiryo" pitchFamily="34" charset="-122"/>
                <a:cs typeface="Meiryo" pitchFamily="34" charset="-120"/>
              </a:rPr>
              <a:t>コード開発  </a:t>
            </a:r>
            <a:pPr indent="0" marL="0">
              <a:buNone/>
            </a:pPr>
            <a:r>
              <a:rPr lang="en-US" sz="1050" dirty="0">
                <a:solidFill>
                  <a:srgbClr val="6B7A90"/>
                </a:solidFill>
                <a:latin typeface="Meiryo" pitchFamily="34" charset="0"/>
                <a:ea typeface="Meiryo" pitchFamily="34" charset="-122"/>
                <a:cs typeface="Meiryo" pitchFamily="34" charset="-120"/>
              </a:rPr>
              <a:t>Coding</a:t>
            </a:r>
            <a:endParaRPr lang="en-US" sz="1400" dirty="0"/>
          </a:p>
        </p:txBody>
      </p:sp>
      <p:sp>
        <p:nvSpPr>
          <p:cNvPr id="20" name="Text 15"/>
          <p:cNvSpPr/>
          <p:nvPr/>
        </p:nvSpPr>
        <p:spPr>
          <a:xfrm>
            <a:off x="4754880" y="3685032"/>
            <a:ext cx="6583680" cy="685800"/>
          </a:xfrm>
          <a:prstGeom prst="rect">
            <a:avLst/>
          </a:prstGeom>
          <a:noFill/>
          <a:ln/>
        </p:spPr>
        <p:txBody>
          <a:bodyPr wrap="square" lIns="0" tIns="0" rIns="0" bIns="0" rtlCol="0" anchor="ctr"/>
          <a:lstStyle/>
          <a:p>
            <a:pPr indent="0" marL="0">
              <a:lnSpc>
                <a:spcPct val="103000"/>
              </a:lnSpc>
              <a:buNone/>
            </a:pPr>
            <a:r>
              <a:rPr lang="en-US" sz="1200" dirty="0">
                <a:solidFill>
                  <a:srgbClr val="1E293B"/>
                </a:solidFill>
                <a:latin typeface="Meiryo" pitchFamily="34" charset="0"/>
                <a:ea typeface="Meiryo" pitchFamily="34" charset="-122"/>
                <a:cs typeface="Meiryo" pitchFamily="34" charset="-120"/>
              </a:rPr>
              <a:t>機密を除いた上でコードに直接活用し、PoCを高速構築。</a:t>
            </a:r>
            <a:endParaRPr lang="en-US" sz="1200" dirty="0"/>
          </a:p>
          <a:p>
            <a:pPr indent="0" marL="0">
              <a:lnSpc>
                <a:spcPct val="103000"/>
              </a:lnSpc>
              <a:buNone/>
            </a:pPr>
            <a:r>
              <a:rPr lang="en-US" sz="1000" dirty="0">
                <a:solidFill>
                  <a:srgbClr val="6B7A90"/>
                </a:solidFill>
                <a:latin typeface="Meiryo" pitchFamily="34" charset="0"/>
                <a:ea typeface="Meiryo" pitchFamily="34" charset="-122"/>
                <a:cs typeface="Meiryo" pitchFamily="34" charset="-120"/>
              </a:rPr>
              <a:t>Used directly in code (secrets removed) to build PoCs quickly.</a:t>
            </a:r>
            <a:endParaRPr lang="en-US" sz="1200" dirty="0"/>
          </a:p>
        </p:txBody>
      </p:sp>
      <p:sp>
        <p:nvSpPr>
          <p:cNvPr id="21" name="Shape 16"/>
          <p:cNvSpPr/>
          <p:nvPr/>
        </p:nvSpPr>
        <p:spPr>
          <a:xfrm>
            <a:off x="640080" y="4544568"/>
            <a:ext cx="10927080" cy="868680"/>
          </a:xfrm>
          <a:prstGeom prst="roundRect">
            <a:avLst>
              <a:gd name="adj" fmla="val 9474"/>
            </a:avLst>
          </a:prstGeom>
          <a:solidFill>
            <a:srgbClr val="F4F7FB"/>
          </a:solidFill>
          <a:ln/>
          <a:effectLst>
            <a:outerShdw sx="100000" sy="100000" kx="0" ky="0" algn="bl" rotWithShape="0" blurRad="114300" dist="38100" dir="5400000">
              <a:srgbClr val="9AA7B8">
                <a:alpha val="28000"/>
              </a:srgbClr>
            </a:outerShdw>
          </a:effectLst>
        </p:spPr>
      </p:sp>
      <p:sp>
        <p:nvSpPr>
          <p:cNvPr id="22" name="Shape 17"/>
          <p:cNvSpPr/>
          <p:nvPr/>
        </p:nvSpPr>
        <p:spPr>
          <a:xfrm>
            <a:off x="841248" y="4695444"/>
            <a:ext cx="566928" cy="566928"/>
          </a:xfrm>
          <a:prstGeom prst="ellipse">
            <a:avLst/>
          </a:prstGeom>
          <a:solidFill>
            <a:srgbClr val="C0603A"/>
          </a:solidFill>
          <a:ln/>
        </p:spPr>
      </p:sp>
      <p:pic>
        <p:nvPicPr>
          <p:cNvPr id="23" name="Image 3" descr="preencoded.png">    </p:cNvPr>
          <p:cNvPicPr>
            <a:picLocks noChangeAspect="1"/>
          </p:cNvPicPr>
          <p:nvPr/>
        </p:nvPicPr>
        <p:blipFill>
          <a:blip r:embed="rId4"/>
          <a:stretch>
            <a:fillRect/>
          </a:stretch>
        </p:blipFill>
        <p:spPr>
          <a:xfrm>
            <a:off x="988649" y="4842845"/>
            <a:ext cx="272125" cy="272125"/>
          </a:xfrm>
          <a:prstGeom prst="rect">
            <a:avLst/>
          </a:prstGeom>
        </p:spPr>
      </p:pic>
      <p:sp>
        <p:nvSpPr>
          <p:cNvPr id="24" name="Text 18"/>
          <p:cNvSpPr/>
          <p:nvPr/>
        </p:nvSpPr>
        <p:spPr>
          <a:xfrm>
            <a:off x="1600200" y="4654296"/>
            <a:ext cx="3063240" cy="649224"/>
          </a:xfrm>
          <a:prstGeom prst="rect">
            <a:avLst/>
          </a:prstGeom>
          <a:noFill/>
          <a:ln/>
        </p:spPr>
        <p:txBody>
          <a:bodyPr wrap="square" lIns="0" tIns="0" rIns="0" bIns="0" rtlCol="0" anchor="ctr"/>
          <a:lstStyle/>
          <a:p>
            <a:pPr indent="0" marL="0">
              <a:buNone/>
            </a:pPr>
            <a:r>
              <a:rPr lang="en-US" sz="1400" b="1" dirty="0">
                <a:solidFill>
                  <a:srgbClr val="1E293B"/>
                </a:solidFill>
                <a:latin typeface="Meiryo" pitchFamily="34" charset="0"/>
                <a:ea typeface="Meiryo" pitchFamily="34" charset="-122"/>
                <a:cs typeface="Meiryo" pitchFamily="34" charset="-120"/>
              </a:rPr>
              <a:t>QA・セキュリティ  </a:t>
            </a:r>
            <a:pPr indent="0" marL="0">
              <a:buNone/>
            </a:pPr>
            <a:r>
              <a:rPr lang="en-US" sz="1050" dirty="0">
                <a:solidFill>
                  <a:srgbClr val="6B7A90"/>
                </a:solidFill>
                <a:latin typeface="Meiryo" pitchFamily="34" charset="0"/>
                <a:ea typeface="Meiryo" pitchFamily="34" charset="-122"/>
                <a:cs typeface="Meiryo" pitchFamily="34" charset="-120"/>
              </a:rPr>
              <a:t>QA &amp; security</a:t>
            </a:r>
            <a:endParaRPr lang="en-US" sz="1400" dirty="0"/>
          </a:p>
        </p:txBody>
      </p:sp>
      <p:sp>
        <p:nvSpPr>
          <p:cNvPr id="25" name="Text 19"/>
          <p:cNvSpPr/>
          <p:nvPr/>
        </p:nvSpPr>
        <p:spPr>
          <a:xfrm>
            <a:off x="4754880" y="4636008"/>
            <a:ext cx="6583680" cy="685800"/>
          </a:xfrm>
          <a:prstGeom prst="rect">
            <a:avLst/>
          </a:prstGeom>
          <a:noFill/>
          <a:ln/>
        </p:spPr>
        <p:txBody>
          <a:bodyPr wrap="square" lIns="0" tIns="0" rIns="0" bIns="0" rtlCol="0" anchor="ctr"/>
          <a:lstStyle/>
          <a:p>
            <a:pPr indent="0" marL="0">
              <a:lnSpc>
                <a:spcPct val="103000"/>
              </a:lnSpc>
              <a:buNone/>
            </a:pPr>
            <a:r>
              <a:rPr lang="en-US" sz="1200" dirty="0">
                <a:solidFill>
                  <a:srgbClr val="1E293B"/>
                </a:solidFill>
                <a:latin typeface="Meiryo" pitchFamily="34" charset="0"/>
                <a:ea typeface="Meiryo" pitchFamily="34" charset="-122"/>
                <a:cs typeface="Meiryo" pitchFamily="34" charset="-120"/>
              </a:rPr>
              <a:t>Claude Codeがデータの流れを追跡し、脆弱性や抜け穴を検出。</a:t>
            </a:r>
            <a:endParaRPr lang="en-US" sz="1200" dirty="0"/>
          </a:p>
          <a:p>
            <a:pPr indent="0" marL="0">
              <a:lnSpc>
                <a:spcPct val="103000"/>
              </a:lnSpc>
              <a:buNone/>
            </a:pPr>
            <a:r>
              <a:rPr lang="en-US" sz="1000" dirty="0">
                <a:solidFill>
                  <a:srgbClr val="6B7A90"/>
                </a:solidFill>
                <a:latin typeface="Meiryo" pitchFamily="34" charset="0"/>
                <a:ea typeface="Meiryo" pitchFamily="34" charset="-122"/>
                <a:cs typeface="Meiryo" pitchFamily="34" charset="-120"/>
              </a:rPr>
              <a:t>Claude Code traced data flow to catch vulnerabilities and loopholes.</a:t>
            </a:r>
            <a:endParaRPr lang="en-US" sz="1200" dirty="0"/>
          </a:p>
        </p:txBody>
      </p:sp>
      <p:sp>
        <p:nvSpPr>
          <p:cNvPr id="26" name="Shape 20"/>
          <p:cNvSpPr/>
          <p:nvPr/>
        </p:nvSpPr>
        <p:spPr>
          <a:xfrm>
            <a:off x="640080" y="5495544"/>
            <a:ext cx="10927080" cy="868680"/>
          </a:xfrm>
          <a:prstGeom prst="roundRect">
            <a:avLst>
              <a:gd name="adj" fmla="val 9474"/>
            </a:avLst>
          </a:prstGeom>
          <a:solidFill>
            <a:srgbClr val="F4F7FB"/>
          </a:solidFill>
          <a:ln/>
          <a:effectLst>
            <a:outerShdw sx="100000" sy="100000" kx="0" ky="0" algn="bl" rotWithShape="0" blurRad="114300" dist="38100" dir="5400000">
              <a:srgbClr val="9AA7B8">
                <a:alpha val="28000"/>
              </a:srgbClr>
            </a:outerShdw>
          </a:effectLst>
        </p:spPr>
      </p:sp>
      <p:sp>
        <p:nvSpPr>
          <p:cNvPr id="27" name="Shape 21"/>
          <p:cNvSpPr/>
          <p:nvPr/>
        </p:nvSpPr>
        <p:spPr>
          <a:xfrm>
            <a:off x="841248" y="5646420"/>
            <a:ext cx="566928" cy="566928"/>
          </a:xfrm>
          <a:prstGeom prst="ellipse">
            <a:avLst/>
          </a:prstGeom>
          <a:solidFill>
            <a:srgbClr val="0F766E"/>
          </a:solidFill>
          <a:ln/>
        </p:spPr>
      </p:sp>
      <p:pic>
        <p:nvPicPr>
          <p:cNvPr id="28" name="Image 4" descr="preencoded.png">    </p:cNvPr>
          <p:cNvPicPr>
            <a:picLocks noChangeAspect="1"/>
          </p:cNvPicPr>
          <p:nvPr/>
        </p:nvPicPr>
        <p:blipFill>
          <a:blip r:embed="rId5"/>
          <a:stretch>
            <a:fillRect/>
          </a:stretch>
        </p:blipFill>
        <p:spPr>
          <a:xfrm>
            <a:off x="988649" y="5793821"/>
            <a:ext cx="272125" cy="272125"/>
          </a:xfrm>
          <a:prstGeom prst="rect">
            <a:avLst/>
          </a:prstGeom>
        </p:spPr>
      </p:pic>
      <p:sp>
        <p:nvSpPr>
          <p:cNvPr id="29" name="Text 22"/>
          <p:cNvSpPr/>
          <p:nvPr/>
        </p:nvSpPr>
        <p:spPr>
          <a:xfrm>
            <a:off x="1600200" y="5605272"/>
            <a:ext cx="3063240" cy="649224"/>
          </a:xfrm>
          <a:prstGeom prst="rect">
            <a:avLst/>
          </a:prstGeom>
          <a:noFill/>
          <a:ln/>
        </p:spPr>
        <p:txBody>
          <a:bodyPr wrap="square" lIns="0" tIns="0" rIns="0" bIns="0" rtlCol="0" anchor="ctr"/>
          <a:lstStyle/>
          <a:p>
            <a:pPr indent="0" marL="0">
              <a:buNone/>
            </a:pPr>
            <a:r>
              <a:rPr lang="en-US" sz="1400" b="1" dirty="0">
                <a:solidFill>
                  <a:srgbClr val="1E293B"/>
                </a:solidFill>
                <a:latin typeface="Meiryo" pitchFamily="34" charset="0"/>
                <a:ea typeface="Meiryo" pitchFamily="34" charset="-122"/>
                <a:cs typeface="Meiryo" pitchFamily="34" charset="-120"/>
              </a:rPr>
              <a:t>ドキュメント作成  </a:t>
            </a:r>
            <a:pPr indent="0" marL="0">
              <a:buNone/>
            </a:pPr>
            <a:r>
              <a:rPr lang="en-US" sz="1050" dirty="0">
                <a:solidFill>
                  <a:srgbClr val="6B7A90"/>
                </a:solidFill>
                <a:latin typeface="Meiryo" pitchFamily="34" charset="0"/>
                <a:ea typeface="Meiryo" pitchFamily="34" charset="-122"/>
                <a:cs typeface="Meiryo" pitchFamily="34" charset="-120"/>
              </a:rPr>
              <a:t>Documentation</a:t>
            </a:r>
            <a:endParaRPr lang="en-US" sz="1400" dirty="0"/>
          </a:p>
        </p:txBody>
      </p:sp>
      <p:sp>
        <p:nvSpPr>
          <p:cNvPr id="30" name="Text 23"/>
          <p:cNvSpPr/>
          <p:nvPr/>
        </p:nvSpPr>
        <p:spPr>
          <a:xfrm>
            <a:off x="4754880" y="5586984"/>
            <a:ext cx="6583680" cy="685800"/>
          </a:xfrm>
          <a:prstGeom prst="rect">
            <a:avLst/>
          </a:prstGeom>
          <a:noFill/>
          <a:ln/>
        </p:spPr>
        <p:txBody>
          <a:bodyPr wrap="square" lIns="0" tIns="0" rIns="0" bIns="0" rtlCol="0" anchor="ctr"/>
          <a:lstStyle/>
          <a:p>
            <a:pPr indent="0" marL="0">
              <a:lnSpc>
                <a:spcPct val="103000"/>
              </a:lnSpc>
              <a:buNone/>
            </a:pPr>
            <a:r>
              <a:rPr lang="en-US" sz="1200" dirty="0">
                <a:solidFill>
                  <a:srgbClr val="1E293B"/>
                </a:solidFill>
                <a:latin typeface="Meiryo" pitchFamily="34" charset="0"/>
                <a:ea typeface="Meiryo" pitchFamily="34" charset="-122"/>
                <a:cs typeface="Meiryo" pitchFamily="34" charset="-120"/>
              </a:rPr>
              <a:t>チャット・Cowork・Claude Codeで日英レポートを高速作成。</a:t>
            </a:r>
            <a:endParaRPr lang="en-US" sz="1200" dirty="0"/>
          </a:p>
          <a:p>
            <a:pPr indent="0" marL="0">
              <a:lnSpc>
                <a:spcPct val="103000"/>
              </a:lnSpc>
              <a:buNone/>
            </a:pPr>
            <a:r>
              <a:rPr lang="en-US" sz="1000" dirty="0">
                <a:solidFill>
                  <a:srgbClr val="6B7A90"/>
                </a:solidFill>
                <a:latin typeface="Meiryo" pitchFamily="34" charset="0"/>
                <a:ea typeface="Meiryo" pitchFamily="34" charset="-122"/>
                <a:cs typeface="Meiryo" pitchFamily="34" charset="-120"/>
              </a:rPr>
              <a:t>Chat, Cowork &amp; Claude Code to draft JP/EN reports fast.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Claudeの主な機能 ①：実作業で使うツール</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Key Claude Features (1) — Working Tools</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640080" y="164592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7" name="Shape 5"/>
          <p:cNvSpPr/>
          <p:nvPr/>
        </p:nvSpPr>
        <p:spPr>
          <a:xfrm>
            <a:off x="859536" y="1865376"/>
            <a:ext cx="548640" cy="548640"/>
          </a:xfrm>
          <a:prstGeom prst="ellipse">
            <a:avLst/>
          </a:prstGeom>
          <a:solidFill>
            <a:srgbClr val="0F766E"/>
          </a:solidFill>
          <a:ln/>
        </p:spPr>
      </p:sp>
      <p:pic>
        <p:nvPicPr>
          <p:cNvPr id="8" name="Image 0" descr="preencoded.png">    </p:cNvPr>
          <p:cNvPicPr>
            <a:picLocks noChangeAspect="1"/>
          </p:cNvPicPr>
          <p:nvPr/>
        </p:nvPicPr>
        <p:blipFill>
          <a:blip r:embed="rId1"/>
          <a:stretch>
            <a:fillRect/>
          </a:stretch>
        </p:blipFill>
        <p:spPr>
          <a:xfrm>
            <a:off x="1002182" y="2008022"/>
            <a:ext cx="263347" cy="263347"/>
          </a:xfrm>
          <a:prstGeom prst="rect">
            <a:avLst/>
          </a:prstGeom>
        </p:spPr>
      </p:pic>
      <p:sp>
        <p:nvSpPr>
          <p:cNvPr id="9" name="Text 6"/>
          <p:cNvSpPr/>
          <p:nvPr/>
        </p:nvSpPr>
        <p:spPr>
          <a:xfrm>
            <a:off x="1508760" y="186537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チャット / Chat</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Chat</a:t>
            </a:r>
            <a:endParaRPr lang="en-US" sz="1250" dirty="0"/>
          </a:p>
        </p:txBody>
      </p:sp>
      <p:sp>
        <p:nvSpPr>
          <p:cNvPr id="10" name="Text 7"/>
          <p:cNvSpPr/>
          <p:nvPr/>
        </p:nvSpPr>
        <p:spPr>
          <a:xfrm>
            <a:off x="859536" y="256032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日常の会話で調査・要約・下書きを行う基本機能。</a:t>
            </a:r>
            <a:endParaRPr lang="en-US" sz="1050" dirty="0"/>
          </a:p>
        </p:txBody>
      </p:sp>
      <p:sp>
        <p:nvSpPr>
          <p:cNvPr id="11" name="Text 8"/>
          <p:cNvSpPr/>
          <p:nvPr/>
        </p:nvSpPr>
        <p:spPr>
          <a:xfrm>
            <a:off x="859536" y="327355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調査・下書きに日常的に使用</a:t>
            </a:r>
            <a:endParaRPr lang="en-US" sz="950" dirty="0"/>
          </a:p>
        </p:txBody>
      </p:sp>
      <p:sp>
        <p:nvSpPr>
          <p:cNvPr id="12" name="Shape 9"/>
          <p:cNvSpPr/>
          <p:nvPr/>
        </p:nvSpPr>
        <p:spPr>
          <a:xfrm>
            <a:off x="4325112" y="164592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13" name="Shape 10"/>
          <p:cNvSpPr/>
          <p:nvPr/>
        </p:nvSpPr>
        <p:spPr>
          <a:xfrm>
            <a:off x="4544568" y="1865376"/>
            <a:ext cx="548640" cy="548640"/>
          </a:xfrm>
          <a:prstGeom prst="ellipse">
            <a:avLst/>
          </a:prstGeom>
          <a:solidFill>
            <a:srgbClr val="C0603A"/>
          </a:solidFill>
          <a:ln/>
        </p:spPr>
      </p:sp>
      <p:pic>
        <p:nvPicPr>
          <p:cNvPr id="14" name="Image 1" descr="preencoded.png">    </p:cNvPr>
          <p:cNvPicPr>
            <a:picLocks noChangeAspect="1"/>
          </p:cNvPicPr>
          <p:nvPr/>
        </p:nvPicPr>
        <p:blipFill>
          <a:blip r:embed="rId2"/>
          <a:stretch>
            <a:fillRect/>
          </a:stretch>
        </p:blipFill>
        <p:spPr>
          <a:xfrm>
            <a:off x="4687214" y="2008022"/>
            <a:ext cx="263347" cy="263347"/>
          </a:xfrm>
          <a:prstGeom prst="rect">
            <a:avLst/>
          </a:prstGeom>
        </p:spPr>
      </p:pic>
      <p:sp>
        <p:nvSpPr>
          <p:cNvPr id="15" name="Text 11"/>
          <p:cNvSpPr/>
          <p:nvPr/>
        </p:nvSpPr>
        <p:spPr>
          <a:xfrm>
            <a:off x="5193792" y="186537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プロジェクト &amp; メモリ</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Projects &amp; Memory</a:t>
            </a:r>
            <a:endParaRPr lang="en-US" sz="1250" dirty="0"/>
          </a:p>
        </p:txBody>
      </p:sp>
      <p:sp>
        <p:nvSpPr>
          <p:cNvPr id="16" name="Text 12"/>
          <p:cNvSpPr/>
          <p:nvPr/>
        </p:nvSpPr>
        <p:spPr>
          <a:xfrm>
            <a:off x="4544568" y="256032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ファイル・指示・記憶をチャット間で引き継ぐ。</a:t>
            </a:r>
            <a:endParaRPr lang="en-US" sz="1050" dirty="0"/>
          </a:p>
        </p:txBody>
      </p:sp>
      <p:sp>
        <p:nvSpPr>
          <p:cNvPr id="17" name="Text 13"/>
          <p:cNvSpPr/>
          <p:nvPr/>
        </p:nvSpPr>
        <p:spPr>
          <a:xfrm>
            <a:off x="4544568" y="327355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前提・資料を保持し再利用</a:t>
            </a:r>
            <a:endParaRPr lang="en-US" sz="950" dirty="0"/>
          </a:p>
        </p:txBody>
      </p:sp>
      <p:sp>
        <p:nvSpPr>
          <p:cNvPr id="18" name="Shape 14"/>
          <p:cNvSpPr/>
          <p:nvPr/>
        </p:nvSpPr>
        <p:spPr>
          <a:xfrm>
            <a:off x="8010144" y="164592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19" name="Shape 15"/>
          <p:cNvSpPr/>
          <p:nvPr/>
        </p:nvSpPr>
        <p:spPr>
          <a:xfrm>
            <a:off x="8229600" y="1865376"/>
            <a:ext cx="548640" cy="548640"/>
          </a:xfrm>
          <a:prstGeom prst="ellipse">
            <a:avLst/>
          </a:prstGeom>
          <a:solidFill>
            <a:srgbClr val="0F766E"/>
          </a:solidFill>
          <a:ln/>
        </p:spPr>
      </p:sp>
      <p:pic>
        <p:nvPicPr>
          <p:cNvPr id="20" name="Image 2" descr="preencoded.png">    </p:cNvPr>
          <p:cNvPicPr>
            <a:picLocks noChangeAspect="1"/>
          </p:cNvPicPr>
          <p:nvPr/>
        </p:nvPicPr>
        <p:blipFill>
          <a:blip r:embed="rId3"/>
          <a:stretch>
            <a:fillRect/>
          </a:stretch>
        </p:blipFill>
        <p:spPr>
          <a:xfrm>
            <a:off x="8372246" y="2008022"/>
            <a:ext cx="263347" cy="263347"/>
          </a:xfrm>
          <a:prstGeom prst="rect">
            <a:avLst/>
          </a:prstGeom>
        </p:spPr>
      </p:pic>
      <p:sp>
        <p:nvSpPr>
          <p:cNvPr id="21" name="Text 16"/>
          <p:cNvSpPr/>
          <p:nvPr/>
        </p:nvSpPr>
        <p:spPr>
          <a:xfrm>
            <a:off x="8878824" y="186537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アーティファクト</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Artifacts</a:t>
            </a:r>
            <a:endParaRPr lang="en-US" sz="1250" dirty="0"/>
          </a:p>
        </p:txBody>
      </p:sp>
      <p:sp>
        <p:nvSpPr>
          <p:cNvPr id="22" name="Text 17"/>
          <p:cNvSpPr/>
          <p:nvPr/>
        </p:nvSpPr>
        <p:spPr>
          <a:xfrm>
            <a:off x="8229600" y="256032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生成物を別ウィンドウでライブ表示・プレビュー。</a:t>
            </a:r>
            <a:endParaRPr lang="en-US" sz="1050" dirty="0"/>
          </a:p>
        </p:txBody>
      </p:sp>
      <p:sp>
        <p:nvSpPr>
          <p:cNvPr id="23" name="Text 18"/>
          <p:cNvSpPr/>
          <p:nvPr/>
        </p:nvSpPr>
        <p:spPr>
          <a:xfrm>
            <a:off x="8229600" y="327355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ツール・図を即確認・調整</a:t>
            </a:r>
            <a:endParaRPr lang="en-US" sz="950" dirty="0"/>
          </a:p>
        </p:txBody>
      </p:sp>
      <p:sp>
        <p:nvSpPr>
          <p:cNvPr id="24" name="Shape 19"/>
          <p:cNvSpPr/>
          <p:nvPr/>
        </p:nvSpPr>
        <p:spPr>
          <a:xfrm>
            <a:off x="640080" y="388620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25" name="Shape 20"/>
          <p:cNvSpPr/>
          <p:nvPr/>
        </p:nvSpPr>
        <p:spPr>
          <a:xfrm>
            <a:off x="859536" y="4105656"/>
            <a:ext cx="548640" cy="548640"/>
          </a:xfrm>
          <a:prstGeom prst="ellipse">
            <a:avLst/>
          </a:prstGeom>
          <a:solidFill>
            <a:srgbClr val="C0603A"/>
          </a:solidFill>
          <a:ln/>
        </p:spPr>
      </p:sp>
      <p:pic>
        <p:nvPicPr>
          <p:cNvPr id="26" name="Image 3" descr="preencoded.png">    </p:cNvPr>
          <p:cNvPicPr>
            <a:picLocks noChangeAspect="1"/>
          </p:cNvPicPr>
          <p:nvPr/>
        </p:nvPicPr>
        <p:blipFill>
          <a:blip r:embed="rId4"/>
          <a:stretch>
            <a:fillRect/>
          </a:stretch>
        </p:blipFill>
        <p:spPr>
          <a:xfrm>
            <a:off x="1002182" y="4248302"/>
            <a:ext cx="263347" cy="263347"/>
          </a:xfrm>
          <a:prstGeom prst="rect">
            <a:avLst/>
          </a:prstGeom>
        </p:spPr>
      </p:pic>
      <p:sp>
        <p:nvSpPr>
          <p:cNvPr id="27" name="Text 21"/>
          <p:cNvSpPr/>
          <p:nvPr/>
        </p:nvSpPr>
        <p:spPr>
          <a:xfrm>
            <a:off x="1508760" y="410565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Claude Design</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Claude Design</a:t>
            </a:r>
            <a:endParaRPr lang="en-US" sz="1250" dirty="0"/>
          </a:p>
        </p:txBody>
      </p:sp>
      <p:sp>
        <p:nvSpPr>
          <p:cNvPr id="28" name="Text 22"/>
          <p:cNvSpPr/>
          <p:nvPr/>
        </p:nvSpPr>
        <p:spPr>
          <a:xfrm>
            <a:off x="859536" y="480060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指示から試作・スライド・モックを生成。デザインも適用。</a:t>
            </a:r>
            <a:endParaRPr lang="en-US" sz="1050" dirty="0"/>
          </a:p>
        </p:txBody>
      </p:sp>
      <p:sp>
        <p:nvSpPr>
          <p:cNvPr id="29" name="Text 23"/>
          <p:cNvSpPr/>
          <p:nvPr/>
        </p:nvSpPr>
        <p:spPr>
          <a:xfrm>
            <a:off x="859536" y="551383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UIモックを製品デザインで生成</a:t>
            </a:r>
            <a:endParaRPr lang="en-US" sz="950" dirty="0"/>
          </a:p>
        </p:txBody>
      </p:sp>
      <p:sp>
        <p:nvSpPr>
          <p:cNvPr id="30" name="Shape 24"/>
          <p:cNvSpPr/>
          <p:nvPr/>
        </p:nvSpPr>
        <p:spPr>
          <a:xfrm>
            <a:off x="4325112" y="388620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31" name="Shape 25"/>
          <p:cNvSpPr/>
          <p:nvPr/>
        </p:nvSpPr>
        <p:spPr>
          <a:xfrm>
            <a:off x="4544568" y="4105656"/>
            <a:ext cx="548640" cy="548640"/>
          </a:xfrm>
          <a:prstGeom prst="ellipse">
            <a:avLst/>
          </a:prstGeom>
          <a:solidFill>
            <a:srgbClr val="0F766E"/>
          </a:solidFill>
          <a:ln/>
        </p:spPr>
      </p:sp>
      <p:pic>
        <p:nvPicPr>
          <p:cNvPr id="32" name="Image 4" descr="preencoded.png">    </p:cNvPr>
          <p:cNvPicPr>
            <a:picLocks noChangeAspect="1"/>
          </p:cNvPicPr>
          <p:nvPr/>
        </p:nvPicPr>
        <p:blipFill>
          <a:blip r:embed="rId5"/>
          <a:stretch>
            <a:fillRect/>
          </a:stretch>
        </p:blipFill>
        <p:spPr>
          <a:xfrm>
            <a:off x="4687214" y="4248302"/>
            <a:ext cx="263347" cy="263347"/>
          </a:xfrm>
          <a:prstGeom prst="rect">
            <a:avLst/>
          </a:prstGeom>
        </p:spPr>
      </p:pic>
      <p:sp>
        <p:nvSpPr>
          <p:cNvPr id="33" name="Text 26"/>
          <p:cNvSpPr/>
          <p:nvPr/>
        </p:nvSpPr>
        <p:spPr>
          <a:xfrm>
            <a:off x="5193792" y="410565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Cowork（コワーク）</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Cowork</a:t>
            </a:r>
            <a:endParaRPr lang="en-US" sz="1250" dirty="0"/>
          </a:p>
        </p:txBody>
      </p:sp>
      <p:sp>
        <p:nvSpPr>
          <p:cNvPr id="34" name="Text 27"/>
          <p:cNvSpPr/>
          <p:nvPr/>
        </p:nvSpPr>
        <p:spPr>
          <a:xfrm>
            <a:off x="4544568" y="480060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ローカルのフォルダで多段タスクを計画→承認→実行。</a:t>
            </a:r>
            <a:endParaRPr lang="en-US" sz="1050" dirty="0"/>
          </a:p>
        </p:txBody>
      </p:sp>
      <p:sp>
        <p:nvSpPr>
          <p:cNvPr id="35" name="Text 28"/>
          <p:cNvSpPr/>
          <p:nvPr/>
        </p:nvSpPr>
        <p:spPr>
          <a:xfrm>
            <a:off x="4544568" y="551383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資料作成・整理を委任</a:t>
            </a:r>
            <a:endParaRPr lang="en-US" sz="950" dirty="0"/>
          </a:p>
        </p:txBody>
      </p:sp>
      <p:sp>
        <p:nvSpPr>
          <p:cNvPr id="36" name="Shape 29"/>
          <p:cNvSpPr/>
          <p:nvPr/>
        </p:nvSpPr>
        <p:spPr>
          <a:xfrm>
            <a:off x="8010144" y="388620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37" name="Shape 30"/>
          <p:cNvSpPr/>
          <p:nvPr/>
        </p:nvSpPr>
        <p:spPr>
          <a:xfrm>
            <a:off x="8229600" y="4105656"/>
            <a:ext cx="548640" cy="548640"/>
          </a:xfrm>
          <a:prstGeom prst="ellipse">
            <a:avLst/>
          </a:prstGeom>
          <a:solidFill>
            <a:srgbClr val="C0603A"/>
          </a:solidFill>
          <a:ln/>
        </p:spPr>
      </p:sp>
      <p:pic>
        <p:nvPicPr>
          <p:cNvPr id="38" name="Image 5" descr="preencoded.png">    </p:cNvPr>
          <p:cNvPicPr>
            <a:picLocks noChangeAspect="1"/>
          </p:cNvPicPr>
          <p:nvPr/>
        </p:nvPicPr>
        <p:blipFill>
          <a:blip r:embed="rId6"/>
          <a:stretch>
            <a:fillRect/>
          </a:stretch>
        </p:blipFill>
        <p:spPr>
          <a:xfrm>
            <a:off x="8372246" y="4248302"/>
            <a:ext cx="263347" cy="263347"/>
          </a:xfrm>
          <a:prstGeom prst="rect">
            <a:avLst/>
          </a:prstGeom>
        </p:spPr>
      </p:pic>
      <p:sp>
        <p:nvSpPr>
          <p:cNvPr id="39" name="Text 31"/>
          <p:cNvSpPr/>
          <p:nvPr/>
        </p:nvSpPr>
        <p:spPr>
          <a:xfrm>
            <a:off x="8878824" y="410565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Claude Code</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Claude Code</a:t>
            </a:r>
            <a:endParaRPr lang="en-US" sz="1250" dirty="0"/>
          </a:p>
        </p:txBody>
      </p:sp>
      <p:sp>
        <p:nvSpPr>
          <p:cNvPr id="40" name="Text 32"/>
          <p:cNvSpPr/>
          <p:nvPr/>
        </p:nvSpPr>
        <p:spPr>
          <a:xfrm>
            <a:off x="8229600" y="480060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開発をターミナル型で委任。実装・デバッグ・セキュリティ確認。</a:t>
            </a:r>
            <a:endParaRPr lang="en-US" sz="1050" dirty="0"/>
          </a:p>
        </p:txBody>
      </p:sp>
      <p:sp>
        <p:nvSpPr>
          <p:cNvPr id="41" name="Text 33"/>
          <p:cNvSpPr/>
          <p:nvPr/>
        </p:nvSpPr>
        <p:spPr>
          <a:xfrm>
            <a:off x="8229600" y="551383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PoC構築・QA（抜け穴検出）</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Claudeの主な機能 ②：拡張エコシステム</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Key Claude Features (2) — Extensibility</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640080" y="164592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7" name="Shape 5"/>
          <p:cNvSpPr/>
          <p:nvPr/>
        </p:nvSpPr>
        <p:spPr>
          <a:xfrm>
            <a:off x="859536" y="1865376"/>
            <a:ext cx="548640" cy="548640"/>
          </a:xfrm>
          <a:prstGeom prst="ellipse">
            <a:avLst/>
          </a:prstGeom>
          <a:solidFill>
            <a:srgbClr val="0F766E"/>
          </a:solidFill>
          <a:ln/>
        </p:spPr>
      </p:sp>
      <p:pic>
        <p:nvPicPr>
          <p:cNvPr id="8" name="Image 0" descr="preencoded.png">    </p:cNvPr>
          <p:cNvPicPr>
            <a:picLocks noChangeAspect="1"/>
          </p:cNvPicPr>
          <p:nvPr/>
        </p:nvPicPr>
        <p:blipFill>
          <a:blip r:embed="rId1"/>
          <a:stretch>
            <a:fillRect/>
          </a:stretch>
        </p:blipFill>
        <p:spPr>
          <a:xfrm>
            <a:off x="1002182" y="2008022"/>
            <a:ext cx="263347" cy="263347"/>
          </a:xfrm>
          <a:prstGeom prst="rect">
            <a:avLst/>
          </a:prstGeom>
        </p:spPr>
      </p:pic>
      <p:sp>
        <p:nvSpPr>
          <p:cNvPr id="9" name="Text 6"/>
          <p:cNvSpPr/>
          <p:nvPr/>
        </p:nvSpPr>
        <p:spPr>
          <a:xfrm>
            <a:off x="1508760" y="186537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Skills（スキル）</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Skills</a:t>
            </a:r>
            <a:endParaRPr lang="en-US" sz="1250" dirty="0"/>
          </a:p>
        </p:txBody>
      </p:sp>
      <p:sp>
        <p:nvSpPr>
          <p:cNvPr id="10" name="Text 7"/>
          <p:cNvSpPr/>
          <p:nvPr/>
        </p:nvSpPr>
        <p:spPr>
          <a:xfrm>
            <a:off x="859536" y="256032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タスクのやり方を教える指示のフォルダ。関連時に自動読込。</a:t>
            </a:r>
            <a:endParaRPr lang="en-US" sz="1050" dirty="0"/>
          </a:p>
        </p:txBody>
      </p:sp>
      <p:sp>
        <p:nvSpPr>
          <p:cNvPr id="11" name="Text 8"/>
          <p:cNvSpPr/>
          <p:nvPr/>
        </p:nvSpPr>
        <p:spPr>
          <a:xfrm>
            <a:off x="859536" y="327355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定型作業を再現</a:t>
            </a:r>
            <a:endParaRPr lang="en-US" sz="950" dirty="0"/>
          </a:p>
        </p:txBody>
      </p:sp>
      <p:sp>
        <p:nvSpPr>
          <p:cNvPr id="12" name="Shape 9"/>
          <p:cNvSpPr/>
          <p:nvPr/>
        </p:nvSpPr>
        <p:spPr>
          <a:xfrm>
            <a:off x="4325112" y="164592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13" name="Shape 10"/>
          <p:cNvSpPr/>
          <p:nvPr/>
        </p:nvSpPr>
        <p:spPr>
          <a:xfrm>
            <a:off x="4544568" y="1865376"/>
            <a:ext cx="548640" cy="548640"/>
          </a:xfrm>
          <a:prstGeom prst="ellipse">
            <a:avLst/>
          </a:prstGeom>
          <a:solidFill>
            <a:srgbClr val="C0603A"/>
          </a:solidFill>
          <a:ln/>
        </p:spPr>
      </p:sp>
      <p:pic>
        <p:nvPicPr>
          <p:cNvPr id="14" name="Image 1" descr="preencoded.png">    </p:cNvPr>
          <p:cNvPicPr>
            <a:picLocks noChangeAspect="1"/>
          </p:cNvPicPr>
          <p:nvPr/>
        </p:nvPicPr>
        <p:blipFill>
          <a:blip r:embed="rId2"/>
          <a:stretch>
            <a:fillRect/>
          </a:stretch>
        </p:blipFill>
        <p:spPr>
          <a:xfrm>
            <a:off x="4687214" y="2008022"/>
            <a:ext cx="263347" cy="263347"/>
          </a:xfrm>
          <a:prstGeom prst="rect">
            <a:avLst/>
          </a:prstGeom>
        </p:spPr>
      </p:pic>
      <p:sp>
        <p:nvSpPr>
          <p:cNvPr id="15" name="Text 11"/>
          <p:cNvSpPr/>
          <p:nvPr/>
        </p:nvSpPr>
        <p:spPr>
          <a:xfrm>
            <a:off x="5193792" y="186537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Connectors（MCP）</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Connectors</a:t>
            </a:r>
            <a:endParaRPr lang="en-US" sz="1250" dirty="0"/>
          </a:p>
        </p:txBody>
      </p:sp>
      <p:sp>
        <p:nvSpPr>
          <p:cNvPr id="16" name="Text 12"/>
          <p:cNvSpPr/>
          <p:nvPr/>
        </p:nvSpPr>
        <p:spPr>
          <a:xfrm>
            <a:off x="4544568" y="256032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アプリ・データへ安全に双方向接続（MCP標準）。</a:t>
            </a:r>
            <a:endParaRPr lang="en-US" sz="1050" dirty="0"/>
          </a:p>
        </p:txBody>
      </p:sp>
      <p:sp>
        <p:nvSpPr>
          <p:cNvPr id="17" name="Text 13"/>
          <p:cNvSpPr/>
          <p:nvPr/>
        </p:nvSpPr>
        <p:spPr>
          <a:xfrm>
            <a:off x="4544568" y="327355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データソースへ接続</a:t>
            </a:r>
            <a:endParaRPr lang="en-US" sz="950" dirty="0"/>
          </a:p>
        </p:txBody>
      </p:sp>
      <p:sp>
        <p:nvSpPr>
          <p:cNvPr id="18" name="Shape 14"/>
          <p:cNvSpPr/>
          <p:nvPr/>
        </p:nvSpPr>
        <p:spPr>
          <a:xfrm>
            <a:off x="8010144" y="164592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19" name="Shape 15"/>
          <p:cNvSpPr/>
          <p:nvPr/>
        </p:nvSpPr>
        <p:spPr>
          <a:xfrm>
            <a:off x="8229600" y="1865376"/>
            <a:ext cx="548640" cy="548640"/>
          </a:xfrm>
          <a:prstGeom prst="ellipse">
            <a:avLst/>
          </a:prstGeom>
          <a:solidFill>
            <a:srgbClr val="0F766E"/>
          </a:solidFill>
          <a:ln/>
        </p:spPr>
      </p:sp>
      <p:pic>
        <p:nvPicPr>
          <p:cNvPr id="20" name="Image 2" descr="preencoded.png">    </p:cNvPr>
          <p:cNvPicPr>
            <a:picLocks noChangeAspect="1"/>
          </p:cNvPicPr>
          <p:nvPr/>
        </p:nvPicPr>
        <p:blipFill>
          <a:blip r:embed="rId3"/>
          <a:stretch>
            <a:fillRect/>
          </a:stretch>
        </p:blipFill>
        <p:spPr>
          <a:xfrm>
            <a:off x="8372246" y="2008022"/>
            <a:ext cx="263347" cy="263347"/>
          </a:xfrm>
          <a:prstGeom prst="rect">
            <a:avLst/>
          </a:prstGeom>
        </p:spPr>
      </p:pic>
      <p:sp>
        <p:nvSpPr>
          <p:cNvPr id="21" name="Text 16"/>
          <p:cNvSpPr/>
          <p:nvPr/>
        </p:nvSpPr>
        <p:spPr>
          <a:xfrm>
            <a:off x="8878824" y="186537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Plugins（プラグイン）</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Plugins</a:t>
            </a:r>
            <a:endParaRPr lang="en-US" sz="1250" dirty="0"/>
          </a:p>
        </p:txBody>
      </p:sp>
      <p:sp>
        <p:nvSpPr>
          <p:cNvPr id="22" name="Text 17"/>
          <p:cNvSpPr/>
          <p:nvPr/>
        </p:nvSpPr>
        <p:spPr>
          <a:xfrm>
            <a:off x="8229600" y="256032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スキル・コネクタ等をまとめ、マーケットで共有。</a:t>
            </a:r>
            <a:endParaRPr lang="en-US" sz="1050" dirty="0"/>
          </a:p>
        </p:txBody>
      </p:sp>
      <p:sp>
        <p:nvSpPr>
          <p:cNvPr id="23" name="Text 18"/>
          <p:cNvSpPr/>
          <p:nvPr/>
        </p:nvSpPr>
        <p:spPr>
          <a:xfrm>
            <a:off x="8229600" y="327355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チームの標準化</a:t>
            </a:r>
            <a:endParaRPr lang="en-US" sz="950" dirty="0"/>
          </a:p>
        </p:txBody>
      </p:sp>
      <p:sp>
        <p:nvSpPr>
          <p:cNvPr id="24" name="Shape 19"/>
          <p:cNvSpPr/>
          <p:nvPr/>
        </p:nvSpPr>
        <p:spPr>
          <a:xfrm>
            <a:off x="640080" y="388620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25" name="Shape 20"/>
          <p:cNvSpPr/>
          <p:nvPr/>
        </p:nvSpPr>
        <p:spPr>
          <a:xfrm>
            <a:off x="859536" y="4105656"/>
            <a:ext cx="548640" cy="548640"/>
          </a:xfrm>
          <a:prstGeom prst="ellipse">
            <a:avLst/>
          </a:prstGeom>
          <a:solidFill>
            <a:srgbClr val="C0603A"/>
          </a:solidFill>
          <a:ln/>
        </p:spPr>
      </p:sp>
      <p:pic>
        <p:nvPicPr>
          <p:cNvPr id="26" name="Image 3" descr="preencoded.png">    </p:cNvPr>
          <p:cNvPicPr>
            <a:picLocks noChangeAspect="1"/>
          </p:cNvPicPr>
          <p:nvPr/>
        </p:nvPicPr>
        <p:blipFill>
          <a:blip r:embed="rId4"/>
          <a:stretch>
            <a:fillRect/>
          </a:stretch>
        </p:blipFill>
        <p:spPr>
          <a:xfrm>
            <a:off x="1002182" y="4248302"/>
            <a:ext cx="263347" cy="263347"/>
          </a:xfrm>
          <a:prstGeom prst="rect">
            <a:avLst/>
          </a:prstGeom>
        </p:spPr>
      </p:pic>
      <p:sp>
        <p:nvSpPr>
          <p:cNvPr id="27" name="Text 21"/>
          <p:cNvSpPr/>
          <p:nvPr/>
        </p:nvSpPr>
        <p:spPr>
          <a:xfrm>
            <a:off x="1508760" y="410565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Cowork：定期実行</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Scheduling</a:t>
            </a:r>
            <a:endParaRPr lang="en-US" sz="1250" dirty="0"/>
          </a:p>
        </p:txBody>
      </p:sp>
      <p:sp>
        <p:nvSpPr>
          <p:cNvPr id="28" name="Text 22"/>
          <p:cNvSpPr/>
          <p:nvPr/>
        </p:nvSpPr>
        <p:spPr>
          <a:xfrm>
            <a:off x="859536" y="480060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決めた時間に自動実行（毎朝・毎週など）。</a:t>
            </a:r>
            <a:endParaRPr lang="en-US" sz="1050" dirty="0"/>
          </a:p>
        </p:txBody>
      </p:sp>
      <p:sp>
        <p:nvSpPr>
          <p:cNvPr id="29" name="Text 23"/>
          <p:cNvSpPr/>
          <p:nvPr/>
        </p:nvSpPr>
        <p:spPr>
          <a:xfrm>
            <a:off x="859536" y="551383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定型レポートの自動化</a:t>
            </a:r>
            <a:endParaRPr lang="en-US" sz="950" dirty="0"/>
          </a:p>
        </p:txBody>
      </p:sp>
      <p:sp>
        <p:nvSpPr>
          <p:cNvPr id="30" name="Shape 24"/>
          <p:cNvSpPr/>
          <p:nvPr/>
        </p:nvSpPr>
        <p:spPr>
          <a:xfrm>
            <a:off x="4325112" y="3886200"/>
            <a:ext cx="3520440" cy="2103120"/>
          </a:xfrm>
          <a:prstGeom prst="roundRect">
            <a:avLst>
              <a:gd name="adj" fmla="val 3913"/>
            </a:avLst>
          </a:prstGeom>
          <a:solidFill>
            <a:srgbClr val="F4F7FB"/>
          </a:solidFill>
          <a:ln/>
          <a:effectLst>
            <a:outerShdw sx="100000" sy="100000" kx="0" ky="0" algn="bl" rotWithShape="0" blurRad="114300" dist="38100" dir="5400000">
              <a:srgbClr val="9AA7B8">
                <a:alpha val="28000"/>
              </a:srgbClr>
            </a:outerShdw>
          </a:effectLst>
        </p:spPr>
      </p:sp>
      <p:sp>
        <p:nvSpPr>
          <p:cNvPr id="31" name="Shape 25"/>
          <p:cNvSpPr/>
          <p:nvPr/>
        </p:nvSpPr>
        <p:spPr>
          <a:xfrm>
            <a:off x="4544568" y="4105656"/>
            <a:ext cx="548640" cy="548640"/>
          </a:xfrm>
          <a:prstGeom prst="ellipse">
            <a:avLst/>
          </a:prstGeom>
          <a:solidFill>
            <a:srgbClr val="0F766E"/>
          </a:solidFill>
          <a:ln/>
        </p:spPr>
      </p:sp>
      <p:pic>
        <p:nvPicPr>
          <p:cNvPr id="32" name="Image 4" descr="preencoded.png">    </p:cNvPr>
          <p:cNvPicPr>
            <a:picLocks noChangeAspect="1"/>
          </p:cNvPicPr>
          <p:nvPr/>
        </p:nvPicPr>
        <p:blipFill>
          <a:blip r:embed="rId5"/>
          <a:stretch>
            <a:fillRect/>
          </a:stretch>
        </p:blipFill>
        <p:spPr>
          <a:xfrm>
            <a:off x="4687214" y="4248302"/>
            <a:ext cx="263347" cy="263347"/>
          </a:xfrm>
          <a:prstGeom prst="rect">
            <a:avLst/>
          </a:prstGeom>
        </p:spPr>
      </p:pic>
      <p:sp>
        <p:nvSpPr>
          <p:cNvPr id="33" name="Text 26"/>
          <p:cNvSpPr/>
          <p:nvPr/>
        </p:nvSpPr>
        <p:spPr>
          <a:xfrm>
            <a:off x="5193792" y="4105656"/>
            <a:ext cx="2468880" cy="566928"/>
          </a:xfrm>
          <a:prstGeom prst="rect">
            <a:avLst/>
          </a:prstGeom>
          <a:noFill/>
          <a:ln/>
        </p:spPr>
        <p:txBody>
          <a:bodyPr wrap="square" lIns="0" tIns="0" rIns="0" bIns="0" rtlCol="0" anchor="ctr"/>
          <a:lstStyle/>
          <a:p>
            <a:pPr indent="0" marL="0">
              <a:lnSpc>
                <a:spcPct val="100000"/>
              </a:lnSpc>
              <a:buNone/>
            </a:pPr>
            <a:r>
              <a:rPr lang="en-US" sz="1250" b="1" dirty="0">
                <a:solidFill>
                  <a:srgbClr val="1E293B"/>
                </a:solidFill>
                <a:latin typeface="Meiryo" pitchFamily="34" charset="0"/>
                <a:ea typeface="Meiryo" pitchFamily="34" charset="-122"/>
                <a:cs typeface="Meiryo" pitchFamily="34" charset="-120"/>
              </a:rPr>
              <a:t>Agents / Dispatch</a:t>
            </a:r>
            <a:endParaRPr lang="en-US" sz="1250" dirty="0"/>
          </a:p>
          <a:p>
            <a:pPr indent="0" marL="0">
              <a:lnSpc>
                <a:spcPct val="100000"/>
              </a:lnSpc>
              <a:buNone/>
            </a:pPr>
            <a:r>
              <a:rPr lang="en-US" sz="900" dirty="0">
                <a:solidFill>
                  <a:srgbClr val="6B7A90"/>
                </a:solidFill>
                <a:latin typeface="Meiryo" pitchFamily="34" charset="0"/>
                <a:ea typeface="Meiryo" pitchFamily="34" charset="-122"/>
                <a:cs typeface="Meiryo" pitchFamily="34" charset="-120"/>
              </a:rPr>
              <a:t>Agents</a:t>
            </a:r>
            <a:endParaRPr lang="en-US" sz="1250" dirty="0"/>
          </a:p>
        </p:txBody>
      </p:sp>
      <p:sp>
        <p:nvSpPr>
          <p:cNvPr id="34" name="Text 27"/>
          <p:cNvSpPr/>
          <p:nvPr/>
        </p:nvSpPr>
        <p:spPr>
          <a:xfrm>
            <a:off x="4544568" y="4800600"/>
            <a:ext cx="3081528" cy="713232"/>
          </a:xfrm>
          <a:prstGeom prst="rect">
            <a:avLst/>
          </a:prstGeom>
          <a:noFill/>
          <a:ln/>
        </p:spPr>
        <p:txBody>
          <a:bodyPr wrap="square" lIns="0" tIns="0" rIns="0" bIns="0" rtlCol="0" anchor="t"/>
          <a:lstStyle/>
          <a:p>
            <a:pPr indent="0" marL="0">
              <a:lnSpc>
                <a:spcPct val="106000"/>
              </a:lnSpc>
              <a:buNone/>
            </a:pPr>
            <a:r>
              <a:rPr lang="en-US" sz="1050" dirty="0">
                <a:solidFill>
                  <a:srgbClr val="1E293B"/>
                </a:solidFill>
                <a:latin typeface="Meiryo" pitchFamily="34" charset="0"/>
                <a:ea typeface="Meiryo" pitchFamily="34" charset="-122"/>
                <a:cs typeface="Meiryo" pitchFamily="34" charset="-120"/>
              </a:rPr>
              <a:t>タスクをエージェントに割り振り、並行して実行。</a:t>
            </a:r>
            <a:endParaRPr lang="en-US" sz="1050" dirty="0"/>
          </a:p>
        </p:txBody>
      </p:sp>
      <p:sp>
        <p:nvSpPr>
          <p:cNvPr id="35" name="Text 28"/>
          <p:cNvSpPr/>
          <p:nvPr/>
        </p:nvSpPr>
        <p:spPr>
          <a:xfrm>
            <a:off x="4544568" y="5513832"/>
            <a:ext cx="3081528" cy="411480"/>
          </a:xfrm>
          <a:prstGeom prst="rect">
            <a:avLst/>
          </a:prstGeom>
          <a:noFill/>
          <a:ln/>
        </p:spPr>
        <p:txBody>
          <a:bodyPr wrap="square" lIns="0" tIns="0" rIns="0" bIns="0" rtlCol="0" anchor="t"/>
          <a:lstStyle/>
          <a:p>
            <a:pPr indent="0" marL="0">
              <a:lnSpc>
                <a:spcPct val="100000"/>
              </a:lnSpc>
              <a:buNone/>
            </a:pPr>
            <a:r>
              <a:rPr lang="en-US" sz="950" b="1" dirty="0">
                <a:solidFill>
                  <a:srgbClr val="0F766E"/>
                </a:solidFill>
                <a:latin typeface="Meiryo" pitchFamily="34" charset="0"/>
                <a:ea typeface="Meiryo" pitchFamily="34" charset="-122"/>
                <a:cs typeface="Meiryo" pitchFamily="34" charset="-120"/>
              </a:rPr>
              <a:t>活用例 / Used for: </a:t>
            </a:r>
            <a:pPr indent="0" marL="0">
              <a:lnSpc>
                <a:spcPct val="100000"/>
              </a:lnSpc>
              <a:buNone/>
            </a:pPr>
            <a:r>
              <a:rPr lang="en-US" sz="950" dirty="0">
                <a:solidFill>
                  <a:srgbClr val="6B7A90"/>
                </a:solidFill>
                <a:latin typeface="Meiryo" pitchFamily="34" charset="0"/>
                <a:ea typeface="Meiryo" pitchFamily="34" charset="-122"/>
                <a:cs typeface="Meiryo" pitchFamily="34" charset="-120"/>
              </a:rPr>
              <a:t>大きめの作業を委任</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6</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成果物① AI音声システムの自動テスト</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Deliverable 1 — Automated Testing for an AI Voice System</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640080" y="1691640"/>
            <a:ext cx="5806440" cy="2148840"/>
          </a:xfrm>
          <a:prstGeom prst="roundRect">
            <a:avLst>
              <a:gd name="adj" fmla="val 3830"/>
            </a:avLst>
          </a:prstGeom>
          <a:solidFill>
            <a:srgbClr val="F4F7FB"/>
          </a:solidFill>
          <a:ln/>
          <a:effectLst>
            <a:outerShdw sx="100000" sy="100000" kx="0" ky="0" algn="bl" rotWithShape="0" blurRad="114300" dist="38100" dir="5400000">
              <a:srgbClr val="9AA7B8">
                <a:alpha val="28000"/>
              </a:srgbClr>
            </a:outerShdw>
          </a:effectLst>
        </p:spPr>
      </p:sp>
      <p:sp>
        <p:nvSpPr>
          <p:cNvPr id="7" name="Shape 5"/>
          <p:cNvSpPr/>
          <p:nvPr/>
        </p:nvSpPr>
        <p:spPr>
          <a:xfrm>
            <a:off x="868680" y="1920240"/>
            <a:ext cx="566928" cy="566928"/>
          </a:xfrm>
          <a:prstGeom prst="ellipse">
            <a:avLst/>
          </a:prstGeom>
          <a:solidFill>
            <a:srgbClr val="0F766E"/>
          </a:solidFill>
          <a:ln/>
        </p:spPr>
      </p:sp>
      <p:pic>
        <p:nvPicPr>
          <p:cNvPr id="8" name="Image 0" descr="preencoded.png">    </p:cNvPr>
          <p:cNvPicPr>
            <a:picLocks noChangeAspect="1"/>
          </p:cNvPicPr>
          <p:nvPr/>
        </p:nvPicPr>
        <p:blipFill>
          <a:blip r:embed="rId1"/>
          <a:stretch>
            <a:fillRect/>
          </a:stretch>
        </p:blipFill>
        <p:spPr>
          <a:xfrm>
            <a:off x="1016081" y="2067641"/>
            <a:ext cx="272125" cy="272125"/>
          </a:xfrm>
          <a:prstGeom prst="rect">
            <a:avLst/>
          </a:prstGeom>
        </p:spPr>
      </p:pic>
      <p:sp>
        <p:nvSpPr>
          <p:cNvPr id="9" name="Text 6"/>
          <p:cNvSpPr/>
          <p:nvPr/>
        </p:nvSpPr>
        <p:spPr>
          <a:xfrm>
            <a:off x="1600200" y="1828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0F766E"/>
                </a:solidFill>
                <a:latin typeface="Meiryo" pitchFamily="34" charset="0"/>
                <a:ea typeface="Meiryo" pitchFamily="34" charset="-122"/>
                <a:cs typeface="Meiryo" pitchFamily="34" charset="-120"/>
              </a:rPr>
              <a:t>成果物の概要 / Deliverable</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AI音声応答（電話予約）システムを自動でテストする仕組みと、テスト項目書を構築。</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An automated harness that tests an AI voice-response (phone booking) system, plus test-case documentation.</a:t>
            </a:r>
            <a:endParaRPr lang="en-US" sz="1100" dirty="0"/>
          </a:p>
        </p:txBody>
      </p:sp>
      <p:sp>
        <p:nvSpPr>
          <p:cNvPr id="10" name="Shape 7"/>
          <p:cNvSpPr/>
          <p:nvPr/>
        </p:nvSpPr>
        <p:spPr>
          <a:xfrm>
            <a:off x="640080" y="3977640"/>
            <a:ext cx="5806440" cy="2148840"/>
          </a:xfrm>
          <a:prstGeom prst="roundRect">
            <a:avLst>
              <a:gd name="adj" fmla="val 3830"/>
            </a:avLst>
          </a:prstGeom>
          <a:solidFill>
            <a:srgbClr val="FFFFFF"/>
          </a:solidFill>
          <a:ln/>
          <a:effectLst>
            <a:outerShdw sx="100000" sy="100000" kx="0" ky="0" algn="bl" rotWithShape="0" blurRad="114300" dist="38100" dir="5400000">
              <a:srgbClr val="9AA7B8">
                <a:alpha val="28000"/>
              </a:srgbClr>
            </a:outerShdw>
          </a:effectLst>
        </p:spPr>
      </p:sp>
      <p:sp>
        <p:nvSpPr>
          <p:cNvPr id="11" name="Shape 8"/>
          <p:cNvSpPr/>
          <p:nvPr/>
        </p:nvSpPr>
        <p:spPr>
          <a:xfrm>
            <a:off x="868680" y="4206240"/>
            <a:ext cx="566928" cy="566928"/>
          </a:xfrm>
          <a:prstGeom prst="ellipse">
            <a:avLst/>
          </a:prstGeom>
          <a:solidFill>
            <a:srgbClr val="C0603A"/>
          </a:solidFill>
          <a:ln/>
        </p:spPr>
      </p:sp>
      <p:pic>
        <p:nvPicPr>
          <p:cNvPr id="12" name="Image 1" descr="preencoded.png">    </p:cNvPr>
          <p:cNvPicPr>
            <a:picLocks noChangeAspect="1"/>
          </p:cNvPicPr>
          <p:nvPr/>
        </p:nvPicPr>
        <p:blipFill>
          <a:blip r:embed="rId2"/>
          <a:stretch>
            <a:fillRect/>
          </a:stretch>
        </p:blipFill>
        <p:spPr>
          <a:xfrm>
            <a:off x="1016081" y="4353641"/>
            <a:ext cx="272125" cy="272125"/>
          </a:xfrm>
          <a:prstGeom prst="rect">
            <a:avLst/>
          </a:prstGeom>
        </p:spPr>
      </p:pic>
      <p:sp>
        <p:nvSpPr>
          <p:cNvPr id="13" name="Text 9"/>
          <p:cNvSpPr/>
          <p:nvPr/>
        </p:nvSpPr>
        <p:spPr>
          <a:xfrm>
            <a:off x="1600200" y="4114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C0603A"/>
                </a:solidFill>
                <a:latin typeface="Meiryo" pitchFamily="34" charset="0"/>
                <a:ea typeface="Meiryo" pitchFamily="34" charset="-122"/>
                <a:cs typeface="Meiryo" pitchFamily="34" charset="-120"/>
              </a:rPr>
              <a:t>Claude の活用方法 / How Claude was used</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テストケースを設計し、通話制御・AIによる合否判定・結果集計までを自動化するスクリプトと設計書をClaudeで構築。</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Designed test cases and built the call-control, AI pass/fail judging and reporting scripts (and docs) with Claude.</a:t>
            </a:r>
            <a:endParaRPr lang="en-US" sz="1100" dirty="0"/>
          </a:p>
        </p:txBody>
      </p:sp>
      <p:sp>
        <p:nvSpPr>
          <p:cNvPr id="14" name="Text 10"/>
          <p:cNvSpPr/>
          <p:nvPr/>
        </p:nvSpPr>
        <p:spPr>
          <a:xfrm>
            <a:off x="6720840" y="1691640"/>
            <a:ext cx="4846320" cy="365760"/>
          </a:xfrm>
          <a:prstGeom prst="rect">
            <a:avLst/>
          </a:prstGeom>
          <a:noFill/>
          <a:ln/>
        </p:spPr>
        <p:txBody>
          <a:bodyPr wrap="square" lIns="0" tIns="0" rIns="0" bIns="0" rtlCol="0" anchor="ctr"/>
          <a:lstStyle/>
          <a:p>
            <a:pPr indent="0" marL="0">
              <a:buNone/>
            </a:pPr>
            <a:r>
              <a:rPr lang="en-US" sz="1200" b="1" dirty="0">
                <a:solidFill>
                  <a:srgbClr val="1E293B"/>
                </a:solidFill>
                <a:latin typeface="Meiryo" pitchFamily="34" charset="0"/>
                <a:ea typeface="Meiryo" pitchFamily="34" charset="-122"/>
                <a:cs typeface="Meiryo" pitchFamily="34" charset="-120"/>
              </a:rPr>
              <a:t>効果 / Results</a:t>
            </a:r>
            <a:pPr indent="0" marL="0">
              <a:buNone/>
            </a:pPr>
            <a:r>
              <a:rPr lang="en-US" sz="900" dirty="0">
                <a:solidFill>
                  <a:srgbClr val="6B7A90"/>
                </a:solidFill>
                <a:latin typeface="Meiryo" pitchFamily="34" charset="0"/>
                <a:ea typeface="Meiryo" pitchFamily="34" charset="-122"/>
                <a:cs typeface="Meiryo" pitchFamily="34" charset="-120"/>
              </a:rPr>
              <a:t>（時間は概算 / times are estimates）</a:t>
            </a:r>
            <a:endParaRPr lang="en-US" sz="1200" dirty="0"/>
          </a:p>
        </p:txBody>
      </p:sp>
      <p:sp>
        <p:nvSpPr>
          <p:cNvPr id="15" name="Shape 11"/>
          <p:cNvSpPr/>
          <p:nvPr/>
        </p:nvSpPr>
        <p:spPr>
          <a:xfrm>
            <a:off x="6720840" y="2148840"/>
            <a:ext cx="4846320" cy="1240536"/>
          </a:xfrm>
          <a:prstGeom prst="roundRect">
            <a:avLst>
              <a:gd name="adj" fmla="val 6634"/>
            </a:avLst>
          </a:prstGeom>
          <a:solidFill>
            <a:srgbClr val="EAF0F7"/>
          </a:solidFill>
          <a:ln/>
          <a:effectLst>
            <a:outerShdw sx="100000" sy="100000" kx="0" ky="0" algn="bl" rotWithShape="0" blurRad="114300" dist="38100" dir="5400000">
              <a:srgbClr val="9AA7B8">
                <a:alpha val="28000"/>
              </a:srgbClr>
            </a:outerShdw>
          </a:effectLst>
        </p:spPr>
      </p:sp>
      <p:sp>
        <p:nvSpPr>
          <p:cNvPr id="16" name="Text 12"/>
          <p:cNvSpPr/>
          <p:nvPr/>
        </p:nvSpPr>
        <p:spPr>
          <a:xfrm>
            <a:off x="6949440" y="2221992"/>
            <a:ext cx="2331720" cy="1094232"/>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テスト基盤の構築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Harness build</a:t>
            </a:r>
            <a:endParaRPr lang="en-US" sz="1200" dirty="0"/>
          </a:p>
        </p:txBody>
      </p:sp>
      <p:sp>
        <p:nvSpPr>
          <p:cNvPr id="17" name="Text 13"/>
          <p:cNvSpPr/>
          <p:nvPr/>
        </p:nvSpPr>
        <p:spPr>
          <a:xfrm>
            <a:off x="9281160" y="2148840"/>
            <a:ext cx="2240280" cy="1240536"/>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約5日→2日</a:t>
            </a:r>
            <a:endParaRPr lang="en-US" sz="1900" dirty="0"/>
          </a:p>
        </p:txBody>
      </p:sp>
      <p:sp>
        <p:nvSpPr>
          <p:cNvPr id="18" name="Shape 14"/>
          <p:cNvSpPr/>
          <p:nvPr/>
        </p:nvSpPr>
        <p:spPr>
          <a:xfrm>
            <a:off x="6720840" y="3517392"/>
            <a:ext cx="4846320" cy="1240536"/>
          </a:xfrm>
          <a:prstGeom prst="roundRect">
            <a:avLst>
              <a:gd name="adj" fmla="val 6634"/>
            </a:avLst>
          </a:prstGeom>
          <a:solidFill>
            <a:srgbClr val="EAF0F7"/>
          </a:solidFill>
          <a:ln/>
          <a:effectLst>
            <a:outerShdw sx="100000" sy="100000" kx="0" ky="0" algn="bl" rotWithShape="0" blurRad="114300" dist="38100" dir="5400000">
              <a:srgbClr val="9AA7B8">
                <a:alpha val="28000"/>
              </a:srgbClr>
            </a:outerShdw>
          </a:effectLst>
        </p:spPr>
      </p:sp>
      <p:sp>
        <p:nvSpPr>
          <p:cNvPr id="19" name="Text 15"/>
          <p:cNvSpPr/>
          <p:nvPr/>
        </p:nvSpPr>
        <p:spPr>
          <a:xfrm>
            <a:off x="6949440" y="3590544"/>
            <a:ext cx="2331720" cy="1094232"/>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テスト実行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Test run time</a:t>
            </a:r>
            <a:endParaRPr lang="en-US" sz="1200" dirty="0"/>
          </a:p>
        </p:txBody>
      </p:sp>
      <p:sp>
        <p:nvSpPr>
          <p:cNvPr id="20" name="Text 16"/>
          <p:cNvSpPr/>
          <p:nvPr/>
        </p:nvSpPr>
        <p:spPr>
          <a:xfrm>
            <a:off x="9281160" y="3517392"/>
            <a:ext cx="2240280" cy="1240536"/>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自動化</a:t>
            </a:r>
            <a:endParaRPr lang="en-US" sz="1900" dirty="0"/>
          </a:p>
        </p:txBody>
      </p:sp>
      <p:sp>
        <p:nvSpPr>
          <p:cNvPr id="21" name="Shape 17"/>
          <p:cNvSpPr/>
          <p:nvPr/>
        </p:nvSpPr>
        <p:spPr>
          <a:xfrm>
            <a:off x="6720840" y="4885944"/>
            <a:ext cx="4846320" cy="1240536"/>
          </a:xfrm>
          <a:prstGeom prst="roundRect">
            <a:avLst>
              <a:gd name="adj" fmla="val 6634"/>
            </a:avLst>
          </a:prstGeom>
          <a:solidFill>
            <a:srgbClr val="EAF0F7"/>
          </a:solidFill>
          <a:ln/>
          <a:effectLst>
            <a:outerShdw sx="100000" sy="100000" kx="0" ky="0" algn="bl" rotWithShape="0" blurRad="114300" dist="38100" dir="5400000">
              <a:srgbClr val="9AA7B8">
                <a:alpha val="28000"/>
              </a:srgbClr>
            </a:outerShdw>
          </a:effectLst>
        </p:spPr>
      </p:sp>
      <p:sp>
        <p:nvSpPr>
          <p:cNvPr id="22" name="Text 18"/>
          <p:cNvSpPr/>
          <p:nvPr/>
        </p:nvSpPr>
        <p:spPr>
          <a:xfrm>
            <a:off x="6949440" y="4959096"/>
            <a:ext cx="2331720" cy="1094232"/>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繰り返し実行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Repeatability</a:t>
            </a:r>
            <a:endParaRPr lang="en-US" sz="1200" dirty="0"/>
          </a:p>
        </p:txBody>
      </p:sp>
      <p:sp>
        <p:nvSpPr>
          <p:cNvPr id="23" name="Text 19"/>
          <p:cNvSpPr/>
          <p:nvPr/>
        </p:nvSpPr>
        <p:spPr>
          <a:xfrm>
            <a:off x="9281160" y="4885944"/>
            <a:ext cx="2240280" cy="1240536"/>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随時可能</a:t>
            </a:r>
            <a:endParaRPr lang="en-US" sz="1900" dirty="0"/>
          </a:p>
        </p:txBody>
      </p:sp>
      <p:sp>
        <p:nvSpPr>
          <p:cNvPr id="24" name="Text 20"/>
          <p:cNvSpPr/>
          <p:nvPr/>
        </p:nvSpPr>
        <p:spPr>
          <a:xfrm>
            <a:off x="685800" y="6263640"/>
            <a:ext cx="10881360" cy="365760"/>
          </a:xfrm>
          <a:prstGeom prst="rect">
            <a:avLst/>
          </a:prstGeom>
          <a:noFill/>
          <a:ln/>
        </p:spPr>
        <p:txBody>
          <a:bodyPr wrap="square" lIns="0" tIns="0" rIns="0" bIns="0" rtlCol="0" anchor="ctr"/>
          <a:lstStyle/>
          <a:p>
            <a:pPr indent="0" marL="0">
              <a:buNone/>
            </a:pPr>
            <a:r>
              <a:rPr lang="en-US" sz="1050" b="1" dirty="0">
                <a:solidFill>
                  <a:srgbClr val="0F766E"/>
                </a:solidFill>
                <a:latin typeface="Meiryo" pitchFamily="34" charset="0"/>
                <a:ea typeface="Meiryo" pitchFamily="34" charset="-122"/>
                <a:cs typeface="Meiryo" pitchFamily="34" charset="-120"/>
              </a:rPr>
              <a:t>使用技術 / Tech:  </a:t>
            </a:r>
            <a:pPr indent="0" marL="0">
              <a:buNone/>
            </a:pPr>
            <a:r>
              <a:rPr lang="en-US" sz="1050" dirty="0">
                <a:solidFill>
                  <a:srgbClr val="6B7A90"/>
                </a:solidFill>
                <a:latin typeface="Meiryo" pitchFamily="34" charset="0"/>
                <a:ea typeface="Meiryo" pitchFamily="34" charset="-122"/>
                <a:cs typeface="Meiryo" pitchFamily="34" charset="-120"/>
              </a:rPr>
              <a:t>Python / FastAPI・ワークフロー自動化・音声通話API・リアルタイム音声API・スプレッドシート連携</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7</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成果物② AI商品照会機能の診断・改善</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Deliverable 2 — Diagnosing &amp; Fixing an AI Product-Lookup</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640080" y="1691640"/>
            <a:ext cx="5806440" cy="2148840"/>
          </a:xfrm>
          <a:prstGeom prst="roundRect">
            <a:avLst>
              <a:gd name="adj" fmla="val 3830"/>
            </a:avLst>
          </a:prstGeom>
          <a:solidFill>
            <a:srgbClr val="F4F7FB"/>
          </a:solidFill>
          <a:ln/>
          <a:effectLst>
            <a:outerShdw sx="100000" sy="100000" kx="0" ky="0" algn="bl" rotWithShape="0" blurRad="114300" dist="38100" dir="5400000">
              <a:srgbClr val="9AA7B8">
                <a:alpha val="28000"/>
              </a:srgbClr>
            </a:outerShdw>
          </a:effectLst>
        </p:spPr>
      </p:sp>
      <p:sp>
        <p:nvSpPr>
          <p:cNvPr id="7" name="Shape 5"/>
          <p:cNvSpPr/>
          <p:nvPr/>
        </p:nvSpPr>
        <p:spPr>
          <a:xfrm>
            <a:off x="868680" y="1920240"/>
            <a:ext cx="566928" cy="566928"/>
          </a:xfrm>
          <a:prstGeom prst="ellipse">
            <a:avLst/>
          </a:prstGeom>
          <a:solidFill>
            <a:srgbClr val="0F766E"/>
          </a:solidFill>
          <a:ln/>
        </p:spPr>
      </p:sp>
      <p:pic>
        <p:nvPicPr>
          <p:cNvPr id="8" name="Image 0" descr="preencoded.png">    </p:cNvPr>
          <p:cNvPicPr>
            <a:picLocks noChangeAspect="1"/>
          </p:cNvPicPr>
          <p:nvPr/>
        </p:nvPicPr>
        <p:blipFill>
          <a:blip r:embed="rId1"/>
          <a:stretch>
            <a:fillRect/>
          </a:stretch>
        </p:blipFill>
        <p:spPr>
          <a:xfrm>
            <a:off x="1016081" y="2067641"/>
            <a:ext cx="272125" cy="272125"/>
          </a:xfrm>
          <a:prstGeom prst="rect">
            <a:avLst/>
          </a:prstGeom>
        </p:spPr>
      </p:pic>
      <p:sp>
        <p:nvSpPr>
          <p:cNvPr id="9" name="Text 6"/>
          <p:cNvSpPr/>
          <p:nvPr/>
        </p:nvSpPr>
        <p:spPr>
          <a:xfrm>
            <a:off x="1600200" y="1828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0F766E"/>
                </a:solidFill>
                <a:latin typeface="Meiryo" pitchFamily="34" charset="0"/>
                <a:ea typeface="Meiryo" pitchFamily="34" charset="-122"/>
                <a:cs typeface="Meiryo" pitchFamily="34" charset="-120"/>
              </a:rPr>
              <a:t>成果物の概要 / Deliverable</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管理システムのAIによる商品情報自動取得機能を診断し、精度・速度・安全性を改善。</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Diagnosed and improved an AI product-info auto-lookup in an admin system — accuracy, speed and safety.</a:t>
            </a:r>
            <a:endParaRPr lang="en-US" sz="1100" dirty="0"/>
          </a:p>
        </p:txBody>
      </p:sp>
      <p:sp>
        <p:nvSpPr>
          <p:cNvPr id="10" name="Shape 7"/>
          <p:cNvSpPr/>
          <p:nvPr/>
        </p:nvSpPr>
        <p:spPr>
          <a:xfrm>
            <a:off x="640080" y="3977640"/>
            <a:ext cx="5806440" cy="2148840"/>
          </a:xfrm>
          <a:prstGeom prst="roundRect">
            <a:avLst>
              <a:gd name="adj" fmla="val 3830"/>
            </a:avLst>
          </a:prstGeom>
          <a:solidFill>
            <a:srgbClr val="FFFFFF"/>
          </a:solidFill>
          <a:ln/>
          <a:effectLst>
            <a:outerShdw sx="100000" sy="100000" kx="0" ky="0" algn="bl" rotWithShape="0" blurRad="114300" dist="38100" dir="5400000">
              <a:srgbClr val="9AA7B8">
                <a:alpha val="28000"/>
              </a:srgbClr>
            </a:outerShdw>
          </a:effectLst>
        </p:spPr>
      </p:sp>
      <p:sp>
        <p:nvSpPr>
          <p:cNvPr id="11" name="Shape 8"/>
          <p:cNvSpPr/>
          <p:nvPr/>
        </p:nvSpPr>
        <p:spPr>
          <a:xfrm>
            <a:off x="868680" y="4206240"/>
            <a:ext cx="566928" cy="566928"/>
          </a:xfrm>
          <a:prstGeom prst="ellipse">
            <a:avLst/>
          </a:prstGeom>
          <a:solidFill>
            <a:srgbClr val="C0603A"/>
          </a:solidFill>
          <a:ln/>
        </p:spPr>
      </p:sp>
      <p:pic>
        <p:nvPicPr>
          <p:cNvPr id="12" name="Image 1" descr="preencoded.png">    </p:cNvPr>
          <p:cNvPicPr>
            <a:picLocks noChangeAspect="1"/>
          </p:cNvPicPr>
          <p:nvPr/>
        </p:nvPicPr>
        <p:blipFill>
          <a:blip r:embed="rId2"/>
          <a:stretch>
            <a:fillRect/>
          </a:stretch>
        </p:blipFill>
        <p:spPr>
          <a:xfrm>
            <a:off x="1016081" y="4353641"/>
            <a:ext cx="272125" cy="272125"/>
          </a:xfrm>
          <a:prstGeom prst="rect">
            <a:avLst/>
          </a:prstGeom>
        </p:spPr>
      </p:pic>
      <p:sp>
        <p:nvSpPr>
          <p:cNvPr id="13" name="Text 9"/>
          <p:cNvSpPr/>
          <p:nvPr/>
        </p:nvSpPr>
        <p:spPr>
          <a:xfrm>
            <a:off x="1600200" y="4114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C0603A"/>
                </a:solidFill>
                <a:latin typeface="Meiryo" pitchFamily="34" charset="0"/>
                <a:ea typeface="Meiryo" pitchFamily="34" charset="-122"/>
                <a:cs typeface="Meiryo" pitchFamily="34" charset="-120"/>
              </a:rPr>
              <a:t>Claude の活用方法 / How Claude was used</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Claude Codeでコードベースを解析して原因を特定。検証ロジックとキャッシュを設計し、プロンプトを改善。</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Used Claude Code to analyze the codebase, pinpoint root causes, design a verification guard + cache, and refine prompts.</a:t>
            </a:r>
            <a:endParaRPr lang="en-US" sz="1100" dirty="0"/>
          </a:p>
        </p:txBody>
      </p:sp>
      <p:sp>
        <p:nvSpPr>
          <p:cNvPr id="14" name="Text 10"/>
          <p:cNvSpPr/>
          <p:nvPr/>
        </p:nvSpPr>
        <p:spPr>
          <a:xfrm>
            <a:off x="6720840" y="1691640"/>
            <a:ext cx="4846320" cy="365760"/>
          </a:xfrm>
          <a:prstGeom prst="rect">
            <a:avLst/>
          </a:prstGeom>
          <a:noFill/>
          <a:ln/>
        </p:spPr>
        <p:txBody>
          <a:bodyPr wrap="square" lIns="0" tIns="0" rIns="0" bIns="0" rtlCol="0" anchor="ctr"/>
          <a:lstStyle/>
          <a:p>
            <a:pPr indent="0" marL="0">
              <a:buNone/>
            </a:pPr>
            <a:r>
              <a:rPr lang="en-US" sz="1200" b="1" dirty="0">
                <a:solidFill>
                  <a:srgbClr val="1E293B"/>
                </a:solidFill>
                <a:latin typeface="Meiryo" pitchFamily="34" charset="0"/>
                <a:ea typeface="Meiryo" pitchFamily="34" charset="-122"/>
                <a:cs typeface="Meiryo" pitchFamily="34" charset="-120"/>
              </a:rPr>
              <a:t>効果 / Results</a:t>
            </a:r>
            <a:pPr indent="0" marL="0">
              <a:buNone/>
            </a:pPr>
            <a:r>
              <a:rPr lang="en-US" sz="900" dirty="0">
                <a:solidFill>
                  <a:srgbClr val="6B7A90"/>
                </a:solidFill>
                <a:latin typeface="Meiryo" pitchFamily="34" charset="0"/>
                <a:ea typeface="Meiryo" pitchFamily="34" charset="-122"/>
                <a:cs typeface="Meiryo" pitchFamily="34" charset="-120"/>
              </a:rPr>
              <a:t>（時間は概算 / times are estimates）</a:t>
            </a:r>
            <a:endParaRPr lang="en-US" sz="1200" dirty="0"/>
          </a:p>
        </p:txBody>
      </p:sp>
      <p:sp>
        <p:nvSpPr>
          <p:cNvPr id="15" name="Shape 11"/>
          <p:cNvSpPr/>
          <p:nvPr/>
        </p:nvSpPr>
        <p:spPr>
          <a:xfrm>
            <a:off x="6720840" y="2148840"/>
            <a:ext cx="4846320" cy="898398"/>
          </a:xfrm>
          <a:prstGeom prst="roundRect">
            <a:avLst>
              <a:gd name="adj" fmla="val 9160"/>
            </a:avLst>
          </a:prstGeom>
          <a:solidFill>
            <a:srgbClr val="EAF0F7"/>
          </a:solidFill>
          <a:ln/>
          <a:effectLst>
            <a:outerShdw sx="100000" sy="100000" kx="0" ky="0" algn="bl" rotWithShape="0" blurRad="114300" dist="38100" dir="5400000">
              <a:srgbClr val="9AA7B8">
                <a:alpha val="28000"/>
              </a:srgbClr>
            </a:outerShdw>
          </a:effectLst>
        </p:spPr>
      </p:sp>
      <p:sp>
        <p:nvSpPr>
          <p:cNvPr id="16" name="Text 12"/>
          <p:cNvSpPr/>
          <p:nvPr/>
        </p:nvSpPr>
        <p:spPr>
          <a:xfrm>
            <a:off x="6949440" y="2221992"/>
            <a:ext cx="2331720" cy="752094"/>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誤った商品の返答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Wrong-product</a:t>
            </a:r>
            <a:endParaRPr lang="en-US" sz="1200" dirty="0"/>
          </a:p>
        </p:txBody>
      </p:sp>
      <p:sp>
        <p:nvSpPr>
          <p:cNvPr id="17" name="Text 13"/>
          <p:cNvSpPr/>
          <p:nvPr/>
        </p:nvSpPr>
        <p:spPr>
          <a:xfrm>
            <a:off x="9281160" y="2148840"/>
            <a:ext cx="2240280" cy="898398"/>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12%→1〜3%</a:t>
            </a:r>
            <a:endParaRPr lang="en-US" sz="1900" dirty="0"/>
          </a:p>
        </p:txBody>
      </p:sp>
      <p:sp>
        <p:nvSpPr>
          <p:cNvPr id="18" name="Shape 14"/>
          <p:cNvSpPr/>
          <p:nvPr/>
        </p:nvSpPr>
        <p:spPr>
          <a:xfrm>
            <a:off x="6720840" y="3175254"/>
            <a:ext cx="4846320" cy="898398"/>
          </a:xfrm>
          <a:prstGeom prst="roundRect">
            <a:avLst>
              <a:gd name="adj" fmla="val 9160"/>
            </a:avLst>
          </a:prstGeom>
          <a:solidFill>
            <a:srgbClr val="EAF0F7"/>
          </a:solidFill>
          <a:ln/>
          <a:effectLst>
            <a:outerShdw sx="100000" sy="100000" kx="0" ky="0" algn="bl" rotWithShape="0" blurRad="114300" dist="38100" dir="5400000">
              <a:srgbClr val="9AA7B8">
                <a:alpha val="28000"/>
              </a:srgbClr>
            </a:outerShdw>
          </a:effectLst>
        </p:spPr>
      </p:sp>
      <p:sp>
        <p:nvSpPr>
          <p:cNvPr id="19" name="Text 15"/>
          <p:cNvSpPr/>
          <p:nvPr/>
        </p:nvSpPr>
        <p:spPr>
          <a:xfrm>
            <a:off x="6949440" y="3248406"/>
            <a:ext cx="2331720" cy="752094"/>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未検出時の待機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Not-found latency</a:t>
            </a:r>
            <a:endParaRPr lang="en-US" sz="1200" dirty="0"/>
          </a:p>
        </p:txBody>
      </p:sp>
      <p:sp>
        <p:nvSpPr>
          <p:cNvPr id="20" name="Text 16"/>
          <p:cNvSpPr/>
          <p:nvPr/>
        </p:nvSpPr>
        <p:spPr>
          <a:xfrm>
            <a:off x="9281160" y="3175254"/>
            <a:ext cx="2240280" cy="898398"/>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2分→7〜10秒</a:t>
            </a:r>
            <a:endParaRPr lang="en-US" sz="1900" dirty="0"/>
          </a:p>
        </p:txBody>
      </p:sp>
      <p:sp>
        <p:nvSpPr>
          <p:cNvPr id="21" name="Shape 17"/>
          <p:cNvSpPr/>
          <p:nvPr/>
        </p:nvSpPr>
        <p:spPr>
          <a:xfrm>
            <a:off x="6720840" y="4201668"/>
            <a:ext cx="4846320" cy="898398"/>
          </a:xfrm>
          <a:prstGeom prst="roundRect">
            <a:avLst>
              <a:gd name="adj" fmla="val 9160"/>
            </a:avLst>
          </a:prstGeom>
          <a:solidFill>
            <a:srgbClr val="EAF0F7"/>
          </a:solidFill>
          <a:ln/>
          <a:effectLst>
            <a:outerShdw sx="100000" sy="100000" kx="0" ky="0" algn="bl" rotWithShape="0" blurRad="114300" dist="38100" dir="5400000">
              <a:srgbClr val="9AA7B8">
                <a:alpha val="28000"/>
              </a:srgbClr>
            </a:outerShdw>
          </a:effectLst>
        </p:spPr>
      </p:sp>
      <p:sp>
        <p:nvSpPr>
          <p:cNvPr id="22" name="Text 18"/>
          <p:cNvSpPr/>
          <p:nvPr/>
        </p:nvSpPr>
        <p:spPr>
          <a:xfrm>
            <a:off x="6949440" y="4274820"/>
            <a:ext cx="2331720" cy="752094"/>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再検索のAI呼出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Repeat lookups</a:t>
            </a:r>
            <a:endParaRPr lang="en-US" sz="1200" dirty="0"/>
          </a:p>
        </p:txBody>
      </p:sp>
      <p:sp>
        <p:nvSpPr>
          <p:cNvPr id="23" name="Text 19"/>
          <p:cNvSpPr/>
          <p:nvPr/>
        </p:nvSpPr>
        <p:spPr>
          <a:xfrm>
            <a:off x="9281160" y="4201668"/>
            <a:ext cx="2240280" cy="898398"/>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ゼロ化</a:t>
            </a:r>
            <a:endParaRPr lang="en-US" sz="1900" dirty="0"/>
          </a:p>
        </p:txBody>
      </p:sp>
      <p:sp>
        <p:nvSpPr>
          <p:cNvPr id="24" name="Shape 20"/>
          <p:cNvSpPr/>
          <p:nvPr/>
        </p:nvSpPr>
        <p:spPr>
          <a:xfrm>
            <a:off x="6720840" y="5228082"/>
            <a:ext cx="4846320" cy="898398"/>
          </a:xfrm>
          <a:prstGeom prst="roundRect">
            <a:avLst>
              <a:gd name="adj" fmla="val 9160"/>
            </a:avLst>
          </a:prstGeom>
          <a:solidFill>
            <a:srgbClr val="EAF0F7"/>
          </a:solidFill>
          <a:ln/>
          <a:effectLst>
            <a:outerShdw sx="100000" sy="100000" kx="0" ky="0" algn="bl" rotWithShape="0" blurRad="114300" dist="38100" dir="5400000">
              <a:srgbClr val="9AA7B8">
                <a:alpha val="28000"/>
              </a:srgbClr>
            </a:outerShdw>
          </a:effectLst>
        </p:spPr>
      </p:sp>
      <p:sp>
        <p:nvSpPr>
          <p:cNvPr id="25" name="Text 21"/>
          <p:cNvSpPr/>
          <p:nvPr/>
        </p:nvSpPr>
        <p:spPr>
          <a:xfrm>
            <a:off x="6949440" y="5301234"/>
            <a:ext cx="2331720" cy="752094"/>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原因調査〜修正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Fix turnaround</a:t>
            </a:r>
            <a:endParaRPr lang="en-US" sz="1200" dirty="0"/>
          </a:p>
        </p:txBody>
      </p:sp>
      <p:sp>
        <p:nvSpPr>
          <p:cNvPr id="26" name="Text 22"/>
          <p:cNvSpPr/>
          <p:nvPr/>
        </p:nvSpPr>
        <p:spPr>
          <a:xfrm>
            <a:off x="9281160" y="5228082"/>
            <a:ext cx="2240280" cy="898398"/>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約4日→1.5日</a:t>
            </a:r>
            <a:endParaRPr lang="en-US" sz="1900" dirty="0"/>
          </a:p>
        </p:txBody>
      </p:sp>
      <p:sp>
        <p:nvSpPr>
          <p:cNvPr id="27" name="Text 23"/>
          <p:cNvSpPr/>
          <p:nvPr/>
        </p:nvSpPr>
        <p:spPr>
          <a:xfrm>
            <a:off x="685800" y="6263640"/>
            <a:ext cx="10881360" cy="365760"/>
          </a:xfrm>
          <a:prstGeom prst="rect">
            <a:avLst/>
          </a:prstGeom>
          <a:noFill/>
          <a:ln/>
        </p:spPr>
        <p:txBody>
          <a:bodyPr wrap="square" lIns="0" tIns="0" rIns="0" bIns="0" rtlCol="0" anchor="ctr"/>
          <a:lstStyle/>
          <a:p>
            <a:pPr indent="0" marL="0">
              <a:buNone/>
            </a:pPr>
            <a:r>
              <a:rPr lang="en-US" sz="1050" b="1" dirty="0">
                <a:solidFill>
                  <a:srgbClr val="0F766E"/>
                </a:solidFill>
                <a:latin typeface="Meiryo" pitchFamily="34" charset="0"/>
                <a:ea typeface="Meiryo" pitchFamily="34" charset="-122"/>
                <a:cs typeface="Meiryo" pitchFamily="34" charset="-120"/>
              </a:rPr>
              <a:t>使用技術 / Tech:  </a:t>
            </a:r>
            <a:pPr indent="0" marL="0">
              <a:buNone/>
            </a:pPr>
            <a:r>
              <a:rPr lang="en-US" sz="1050" dirty="0">
                <a:solidFill>
                  <a:srgbClr val="6B7A90"/>
                </a:solidFill>
                <a:latin typeface="Meiryo" pitchFamily="34" charset="0"/>
                <a:ea typeface="Meiryo" pitchFamily="34" charset="-122"/>
                <a:cs typeface="Meiryo" pitchFamily="34" charset="-120"/>
              </a:rPr>
              <a:t>コード解析・プロンプトエンジニアリング・キャッシュ設計・検証ロジック</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8</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成果物③ データ分析と日英レポート</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Deliverable 3 — Data Analysis &amp; Bilingual Reporting</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640080" y="1691640"/>
            <a:ext cx="5806440" cy="2148840"/>
          </a:xfrm>
          <a:prstGeom prst="roundRect">
            <a:avLst>
              <a:gd name="adj" fmla="val 3830"/>
            </a:avLst>
          </a:prstGeom>
          <a:solidFill>
            <a:srgbClr val="F4F7FB"/>
          </a:solidFill>
          <a:ln/>
          <a:effectLst>
            <a:outerShdw sx="100000" sy="100000" kx="0" ky="0" algn="bl" rotWithShape="0" blurRad="114300" dist="38100" dir="5400000">
              <a:srgbClr val="9AA7B8">
                <a:alpha val="28000"/>
              </a:srgbClr>
            </a:outerShdw>
          </a:effectLst>
        </p:spPr>
      </p:sp>
      <p:sp>
        <p:nvSpPr>
          <p:cNvPr id="7" name="Shape 5"/>
          <p:cNvSpPr/>
          <p:nvPr/>
        </p:nvSpPr>
        <p:spPr>
          <a:xfrm>
            <a:off x="868680" y="1920240"/>
            <a:ext cx="566928" cy="566928"/>
          </a:xfrm>
          <a:prstGeom prst="ellipse">
            <a:avLst/>
          </a:prstGeom>
          <a:solidFill>
            <a:srgbClr val="0F766E"/>
          </a:solidFill>
          <a:ln/>
        </p:spPr>
      </p:sp>
      <p:pic>
        <p:nvPicPr>
          <p:cNvPr id="8" name="Image 0" descr="preencoded.png">    </p:cNvPr>
          <p:cNvPicPr>
            <a:picLocks noChangeAspect="1"/>
          </p:cNvPicPr>
          <p:nvPr/>
        </p:nvPicPr>
        <p:blipFill>
          <a:blip r:embed="rId1"/>
          <a:stretch>
            <a:fillRect/>
          </a:stretch>
        </p:blipFill>
        <p:spPr>
          <a:xfrm>
            <a:off x="1016081" y="2067641"/>
            <a:ext cx="272125" cy="272125"/>
          </a:xfrm>
          <a:prstGeom prst="rect">
            <a:avLst/>
          </a:prstGeom>
        </p:spPr>
      </p:pic>
      <p:sp>
        <p:nvSpPr>
          <p:cNvPr id="9" name="Text 6"/>
          <p:cNvSpPr/>
          <p:nvPr/>
        </p:nvSpPr>
        <p:spPr>
          <a:xfrm>
            <a:off x="1600200" y="1828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0F766E"/>
                </a:solidFill>
                <a:latin typeface="Meiryo" pitchFamily="34" charset="0"/>
                <a:ea typeface="Meiryo" pitchFamily="34" charset="-122"/>
                <a:cs typeface="Meiryo" pitchFamily="34" charset="-120"/>
              </a:rPr>
              <a:t>成果物の概要 / Deliverable</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大規模な予約データ（約50万件規模）の傾向分析と、日英2言語での報告書・PoC資料を作成。</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Trend analysis of large-scale booking data (~500k records) plus reports/PoC decks in both Japanese and English.</a:t>
            </a:r>
            <a:endParaRPr lang="en-US" sz="1100" dirty="0"/>
          </a:p>
        </p:txBody>
      </p:sp>
      <p:sp>
        <p:nvSpPr>
          <p:cNvPr id="10" name="Shape 7"/>
          <p:cNvSpPr/>
          <p:nvPr/>
        </p:nvSpPr>
        <p:spPr>
          <a:xfrm>
            <a:off x="640080" y="3977640"/>
            <a:ext cx="5806440" cy="2148840"/>
          </a:xfrm>
          <a:prstGeom prst="roundRect">
            <a:avLst>
              <a:gd name="adj" fmla="val 3830"/>
            </a:avLst>
          </a:prstGeom>
          <a:solidFill>
            <a:srgbClr val="FFFFFF"/>
          </a:solidFill>
          <a:ln/>
          <a:effectLst>
            <a:outerShdw sx="100000" sy="100000" kx="0" ky="0" algn="bl" rotWithShape="0" blurRad="114300" dist="38100" dir="5400000">
              <a:srgbClr val="9AA7B8">
                <a:alpha val="28000"/>
              </a:srgbClr>
            </a:outerShdw>
          </a:effectLst>
        </p:spPr>
      </p:sp>
      <p:sp>
        <p:nvSpPr>
          <p:cNvPr id="11" name="Shape 8"/>
          <p:cNvSpPr/>
          <p:nvPr/>
        </p:nvSpPr>
        <p:spPr>
          <a:xfrm>
            <a:off x="868680" y="4206240"/>
            <a:ext cx="566928" cy="566928"/>
          </a:xfrm>
          <a:prstGeom prst="ellipse">
            <a:avLst/>
          </a:prstGeom>
          <a:solidFill>
            <a:srgbClr val="C0603A"/>
          </a:solidFill>
          <a:ln/>
        </p:spPr>
      </p:sp>
      <p:pic>
        <p:nvPicPr>
          <p:cNvPr id="12" name="Image 1" descr="preencoded.png">    </p:cNvPr>
          <p:cNvPicPr>
            <a:picLocks noChangeAspect="1"/>
          </p:cNvPicPr>
          <p:nvPr/>
        </p:nvPicPr>
        <p:blipFill>
          <a:blip r:embed="rId2"/>
          <a:stretch>
            <a:fillRect/>
          </a:stretch>
        </p:blipFill>
        <p:spPr>
          <a:xfrm>
            <a:off x="1016081" y="4353641"/>
            <a:ext cx="272125" cy="272125"/>
          </a:xfrm>
          <a:prstGeom prst="rect">
            <a:avLst/>
          </a:prstGeom>
        </p:spPr>
      </p:pic>
      <p:sp>
        <p:nvSpPr>
          <p:cNvPr id="13" name="Text 9"/>
          <p:cNvSpPr/>
          <p:nvPr/>
        </p:nvSpPr>
        <p:spPr>
          <a:xfrm>
            <a:off x="1600200" y="4114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C0603A"/>
                </a:solidFill>
                <a:latin typeface="Meiryo" pitchFamily="34" charset="0"/>
                <a:ea typeface="Meiryo" pitchFamily="34" charset="-122"/>
                <a:cs typeface="Meiryo" pitchFamily="34" charset="-120"/>
              </a:rPr>
              <a:t>Claude の活用方法 / How Claude was used</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データのクレンジング後、Claudeで傾向分析・示唆抽出・図表化を行い、日英レポートを一貫作成。</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After cleaning the data, used Claude for pattern analysis, insight extraction, charts and end-to-end JP/EN writing.</a:t>
            </a:r>
            <a:endParaRPr lang="en-US" sz="1100" dirty="0"/>
          </a:p>
        </p:txBody>
      </p:sp>
      <p:sp>
        <p:nvSpPr>
          <p:cNvPr id="14" name="Text 10"/>
          <p:cNvSpPr/>
          <p:nvPr/>
        </p:nvSpPr>
        <p:spPr>
          <a:xfrm>
            <a:off x="6720840" y="1691640"/>
            <a:ext cx="4846320" cy="365760"/>
          </a:xfrm>
          <a:prstGeom prst="rect">
            <a:avLst/>
          </a:prstGeom>
          <a:noFill/>
          <a:ln/>
        </p:spPr>
        <p:txBody>
          <a:bodyPr wrap="square" lIns="0" tIns="0" rIns="0" bIns="0" rtlCol="0" anchor="ctr"/>
          <a:lstStyle/>
          <a:p>
            <a:pPr indent="0" marL="0">
              <a:buNone/>
            </a:pPr>
            <a:r>
              <a:rPr lang="en-US" sz="1200" b="1" dirty="0">
                <a:solidFill>
                  <a:srgbClr val="1E293B"/>
                </a:solidFill>
                <a:latin typeface="Meiryo" pitchFamily="34" charset="0"/>
                <a:ea typeface="Meiryo" pitchFamily="34" charset="-122"/>
                <a:cs typeface="Meiryo" pitchFamily="34" charset="-120"/>
              </a:rPr>
              <a:t>効果 / Results</a:t>
            </a:r>
            <a:pPr indent="0" marL="0">
              <a:buNone/>
            </a:pPr>
            <a:r>
              <a:rPr lang="en-US" sz="900" dirty="0">
                <a:solidFill>
                  <a:srgbClr val="6B7A90"/>
                </a:solidFill>
                <a:latin typeface="Meiryo" pitchFamily="34" charset="0"/>
                <a:ea typeface="Meiryo" pitchFamily="34" charset="-122"/>
                <a:cs typeface="Meiryo" pitchFamily="34" charset="-120"/>
              </a:rPr>
              <a:t>（時間は概算 / times are estimates）</a:t>
            </a:r>
            <a:endParaRPr lang="en-US" sz="1200" dirty="0"/>
          </a:p>
        </p:txBody>
      </p:sp>
      <p:sp>
        <p:nvSpPr>
          <p:cNvPr id="15" name="Shape 11"/>
          <p:cNvSpPr/>
          <p:nvPr/>
        </p:nvSpPr>
        <p:spPr>
          <a:xfrm>
            <a:off x="6720840" y="2148840"/>
            <a:ext cx="4846320" cy="1240536"/>
          </a:xfrm>
          <a:prstGeom prst="roundRect">
            <a:avLst>
              <a:gd name="adj" fmla="val 6634"/>
            </a:avLst>
          </a:prstGeom>
          <a:solidFill>
            <a:srgbClr val="EAF0F7"/>
          </a:solidFill>
          <a:ln/>
          <a:effectLst>
            <a:outerShdw sx="100000" sy="100000" kx="0" ky="0" algn="bl" rotWithShape="0" blurRad="114300" dist="38100" dir="5400000">
              <a:srgbClr val="9AA7B8">
                <a:alpha val="28000"/>
              </a:srgbClr>
            </a:outerShdw>
          </a:effectLst>
        </p:spPr>
      </p:sp>
      <p:sp>
        <p:nvSpPr>
          <p:cNvPr id="16" name="Text 12"/>
          <p:cNvSpPr/>
          <p:nvPr/>
        </p:nvSpPr>
        <p:spPr>
          <a:xfrm>
            <a:off x="6949440" y="2221992"/>
            <a:ext cx="2331720" cy="1094232"/>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分析〜日英報告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Analysis→report</a:t>
            </a:r>
            <a:endParaRPr lang="en-US" sz="1200" dirty="0"/>
          </a:p>
        </p:txBody>
      </p:sp>
      <p:sp>
        <p:nvSpPr>
          <p:cNvPr id="17" name="Text 13"/>
          <p:cNvSpPr/>
          <p:nvPr/>
        </p:nvSpPr>
        <p:spPr>
          <a:xfrm>
            <a:off x="9281160" y="2148840"/>
            <a:ext cx="2240280" cy="1240536"/>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約2週間→4日</a:t>
            </a:r>
            <a:endParaRPr lang="en-US" sz="1900" dirty="0"/>
          </a:p>
        </p:txBody>
      </p:sp>
      <p:sp>
        <p:nvSpPr>
          <p:cNvPr id="18" name="Shape 14"/>
          <p:cNvSpPr/>
          <p:nvPr/>
        </p:nvSpPr>
        <p:spPr>
          <a:xfrm>
            <a:off x="6720840" y="3517392"/>
            <a:ext cx="4846320" cy="1240536"/>
          </a:xfrm>
          <a:prstGeom prst="roundRect">
            <a:avLst>
              <a:gd name="adj" fmla="val 6634"/>
            </a:avLst>
          </a:prstGeom>
          <a:solidFill>
            <a:srgbClr val="EAF0F7"/>
          </a:solidFill>
          <a:ln/>
          <a:effectLst>
            <a:outerShdw sx="100000" sy="100000" kx="0" ky="0" algn="bl" rotWithShape="0" blurRad="114300" dist="38100" dir="5400000">
              <a:srgbClr val="9AA7B8">
                <a:alpha val="28000"/>
              </a:srgbClr>
            </a:outerShdw>
          </a:effectLst>
        </p:spPr>
      </p:sp>
      <p:sp>
        <p:nvSpPr>
          <p:cNvPr id="19" name="Text 15"/>
          <p:cNvSpPr/>
          <p:nvPr/>
        </p:nvSpPr>
        <p:spPr>
          <a:xfrm>
            <a:off x="6949440" y="3590544"/>
            <a:ext cx="2331720" cy="1094232"/>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提案文の自動生成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Msg generation</a:t>
            </a:r>
            <a:endParaRPr lang="en-US" sz="1200" dirty="0"/>
          </a:p>
        </p:txBody>
      </p:sp>
      <p:sp>
        <p:nvSpPr>
          <p:cNvPr id="20" name="Text 16"/>
          <p:cNvSpPr/>
          <p:nvPr/>
        </p:nvSpPr>
        <p:spPr>
          <a:xfrm>
            <a:off x="9281160" y="3517392"/>
            <a:ext cx="2240280" cy="1240536"/>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約1円/件</a:t>
            </a:r>
            <a:endParaRPr lang="en-US" sz="1900" dirty="0"/>
          </a:p>
        </p:txBody>
      </p:sp>
      <p:sp>
        <p:nvSpPr>
          <p:cNvPr id="21" name="Shape 17"/>
          <p:cNvSpPr/>
          <p:nvPr/>
        </p:nvSpPr>
        <p:spPr>
          <a:xfrm>
            <a:off x="6720840" y="4885944"/>
            <a:ext cx="4846320" cy="1240536"/>
          </a:xfrm>
          <a:prstGeom prst="roundRect">
            <a:avLst>
              <a:gd name="adj" fmla="val 6634"/>
            </a:avLst>
          </a:prstGeom>
          <a:solidFill>
            <a:srgbClr val="EAF0F7"/>
          </a:solidFill>
          <a:ln/>
          <a:effectLst>
            <a:outerShdw sx="100000" sy="100000" kx="0" ky="0" algn="bl" rotWithShape="0" blurRad="114300" dist="38100" dir="5400000">
              <a:srgbClr val="9AA7B8">
                <a:alpha val="28000"/>
              </a:srgbClr>
            </a:outerShdw>
          </a:effectLst>
        </p:spPr>
      </p:sp>
      <p:sp>
        <p:nvSpPr>
          <p:cNvPr id="22" name="Text 18"/>
          <p:cNvSpPr/>
          <p:nvPr/>
        </p:nvSpPr>
        <p:spPr>
          <a:xfrm>
            <a:off x="6949440" y="4959096"/>
            <a:ext cx="2331720" cy="1094232"/>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手作業の代替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Manual work</a:t>
            </a:r>
            <a:endParaRPr lang="en-US" sz="1200" dirty="0"/>
          </a:p>
        </p:txBody>
      </p:sp>
      <p:sp>
        <p:nvSpPr>
          <p:cNvPr id="23" name="Text 19"/>
          <p:cNvSpPr/>
          <p:nvPr/>
        </p:nvSpPr>
        <p:spPr>
          <a:xfrm>
            <a:off x="9281160" y="4885944"/>
            <a:ext cx="2240280" cy="1240536"/>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数分/件を削減</a:t>
            </a:r>
            <a:endParaRPr lang="en-US" sz="1900" dirty="0"/>
          </a:p>
        </p:txBody>
      </p:sp>
      <p:sp>
        <p:nvSpPr>
          <p:cNvPr id="24" name="Text 20"/>
          <p:cNvSpPr/>
          <p:nvPr/>
        </p:nvSpPr>
        <p:spPr>
          <a:xfrm>
            <a:off x="685800" y="6263640"/>
            <a:ext cx="10881360" cy="365760"/>
          </a:xfrm>
          <a:prstGeom prst="rect">
            <a:avLst/>
          </a:prstGeom>
          <a:noFill/>
          <a:ln/>
        </p:spPr>
        <p:txBody>
          <a:bodyPr wrap="square" lIns="0" tIns="0" rIns="0" bIns="0" rtlCol="0" anchor="ctr"/>
          <a:lstStyle/>
          <a:p>
            <a:pPr indent="0" marL="0">
              <a:buNone/>
            </a:pPr>
            <a:r>
              <a:rPr lang="en-US" sz="1050" b="1" dirty="0">
                <a:solidFill>
                  <a:srgbClr val="0F766E"/>
                </a:solidFill>
                <a:latin typeface="Meiryo" pitchFamily="34" charset="0"/>
                <a:ea typeface="Meiryo" pitchFamily="34" charset="-122"/>
                <a:cs typeface="Meiryo" pitchFamily="34" charset="-120"/>
              </a:rPr>
              <a:t>使用技術 / Tech:  </a:t>
            </a:r>
            <a:pPr indent="0" marL="0">
              <a:buNone/>
            </a:pPr>
            <a:r>
              <a:rPr lang="en-US" sz="1050" dirty="0">
                <a:solidFill>
                  <a:srgbClr val="6B7A90"/>
                </a:solidFill>
                <a:latin typeface="Meiryo" pitchFamily="34" charset="0"/>
                <a:ea typeface="Meiryo" pitchFamily="34" charset="-122"/>
                <a:cs typeface="Meiryo" pitchFamily="34" charset="-120"/>
              </a:rPr>
              <a:t>データ分析・可視化・日英テクニカルライティング</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ellipse">
            <a:avLst/>
          </a:prstGeom>
          <a:solidFill>
            <a:srgbClr val="C0603A"/>
          </a:solidFill>
          <a:ln/>
        </p:spPr>
      </p:sp>
      <p:sp>
        <p:nvSpPr>
          <p:cNvPr id="3" name="Text 1"/>
          <p:cNvSpPr/>
          <p:nvPr/>
        </p:nvSpPr>
        <p:spPr>
          <a:xfrm>
            <a:off x="640080" y="5669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9</a:t>
            </a:r>
            <a:endParaRPr lang="en-US" sz="2200" dirty="0"/>
          </a:p>
        </p:txBody>
      </p:sp>
      <p:sp>
        <p:nvSpPr>
          <p:cNvPr id="4" name="Text 2"/>
          <p:cNvSpPr/>
          <p:nvPr/>
        </p:nvSpPr>
        <p:spPr>
          <a:xfrm>
            <a:off x="1371600" y="457200"/>
            <a:ext cx="10241280" cy="868680"/>
          </a:xfrm>
          <a:prstGeom prst="rect">
            <a:avLst/>
          </a:prstGeom>
          <a:noFill/>
          <a:ln/>
        </p:spPr>
        <p:txBody>
          <a:bodyPr wrap="square" lIns="0" tIns="0" rIns="0" bIns="0" rtlCol="0" anchor="ctr"/>
          <a:lstStyle/>
          <a:p>
            <a:pPr indent="0" marL="0">
              <a:lnSpc>
                <a:spcPct val="100000"/>
              </a:lnSpc>
              <a:buNone/>
            </a:pPr>
            <a:r>
              <a:rPr lang="en-US" sz="2700" b="1" dirty="0">
                <a:solidFill>
                  <a:srgbClr val="1E293B"/>
                </a:solidFill>
                <a:latin typeface="Meiryo" pitchFamily="34" charset="0"/>
                <a:ea typeface="Meiryo" pitchFamily="34" charset="-122"/>
                <a:cs typeface="Meiryo" pitchFamily="34" charset="-120"/>
              </a:rPr>
              <a:t>成果物④ 社内Claude勉強会の制作</a:t>
            </a:r>
            <a:endParaRPr lang="en-US" sz="2700" dirty="0"/>
          </a:p>
          <a:p>
            <a:pPr indent="0" marL="0">
              <a:lnSpc>
                <a:spcPct val="100000"/>
              </a:lnSpc>
              <a:buNone/>
            </a:pPr>
            <a:r>
              <a:rPr lang="en-US" sz="1300" dirty="0">
                <a:solidFill>
                  <a:srgbClr val="6B7A90"/>
                </a:solidFill>
                <a:latin typeface="Meiryo" pitchFamily="34" charset="0"/>
                <a:ea typeface="Meiryo" pitchFamily="34" charset="-122"/>
                <a:cs typeface="Meiryo" pitchFamily="34" charset="-120"/>
              </a:rPr>
              <a:t>Deliverable 4 — Internal Claude Study Session (Bonus)</a:t>
            </a:r>
            <a:endParaRPr lang="en-US" sz="2700" dirty="0"/>
          </a:p>
        </p:txBody>
      </p:sp>
      <p:sp>
        <p:nvSpPr>
          <p:cNvPr id="5" name="Shape 3"/>
          <p:cNvSpPr/>
          <p:nvPr/>
        </p:nvSpPr>
        <p:spPr>
          <a:xfrm>
            <a:off x="640080" y="1481328"/>
            <a:ext cx="10911535" cy="0"/>
          </a:xfrm>
          <a:prstGeom prst="line">
            <a:avLst/>
          </a:prstGeom>
          <a:noFill/>
          <a:ln w="12700">
            <a:solidFill>
              <a:srgbClr val="D9E2EC"/>
            </a:solidFill>
            <a:prstDash val="solid"/>
          </a:ln>
        </p:spPr>
      </p:sp>
      <p:sp>
        <p:nvSpPr>
          <p:cNvPr id="6" name="Shape 4"/>
          <p:cNvSpPr/>
          <p:nvPr/>
        </p:nvSpPr>
        <p:spPr>
          <a:xfrm>
            <a:off x="640080" y="1691640"/>
            <a:ext cx="5806440" cy="2148840"/>
          </a:xfrm>
          <a:prstGeom prst="roundRect">
            <a:avLst>
              <a:gd name="adj" fmla="val 3830"/>
            </a:avLst>
          </a:prstGeom>
          <a:solidFill>
            <a:srgbClr val="F4F7FB"/>
          </a:solidFill>
          <a:ln/>
          <a:effectLst>
            <a:outerShdw sx="100000" sy="100000" kx="0" ky="0" algn="bl" rotWithShape="0" blurRad="114300" dist="38100" dir="5400000">
              <a:srgbClr val="9AA7B8">
                <a:alpha val="28000"/>
              </a:srgbClr>
            </a:outerShdw>
          </a:effectLst>
        </p:spPr>
      </p:sp>
      <p:sp>
        <p:nvSpPr>
          <p:cNvPr id="7" name="Shape 5"/>
          <p:cNvSpPr/>
          <p:nvPr/>
        </p:nvSpPr>
        <p:spPr>
          <a:xfrm>
            <a:off x="868680" y="1920240"/>
            <a:ext cx="566928" cy="566928"/>
          </a:xfrm>
          <a:prstGeom prst="ellipse">
            <a:avLst/>
          </a:prstGeom>
          <a:solidFill>
            <a:srgbClr val="0F766E"/>
          </a:solidFill>
          <a:ln/>
        </p:spPr>
      </p:sp>
      <p:pic>
        <p:nvPicPr>
          <p:cNvPr id="8" name="Image 0" descr="preencoded.png">    </p:cNvPr>
          <p:cNvPicPr>
            <a:picLocks noChangeAspect="1"/>
          </p:cNvPicPr>
          <p:nvPr/>
        </p:nvPicPr>
        <p:blipFill>
          <a:blip r:embed="rId1"/>
          <a:stretch>
            <a:fillRect/>
          </a:stretch>
        </p:blipFill>
        <p:spPr>
          <a:xfrm>
            <a:off x="1016081" y="2067641"/>
            <a:ext cx="272125" cy="272125"/>
          </a:xfrm>
          <a:prstGeom prst="rect">
            <a:avLst/>
          </a:prstGeom>
        </p:spPr>
      </p:pic>
      <p:sp>
        <p:nvSpPr>
          <p:cNvPr id="9" name="Text 6"/>
          <p:cNvSpPr/>
          <p:nvPr/>
        </p:nvSpPr>
        <p:spPr>
          <a:xfrm>
            <a:off x="1600200" y="1828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0F766E"/>
                </a:solidFill>
                <a:latin typeface="Meiryo" pitchFamily="34" charset="0"/>
                <a:ea typeface="Meiryo" pitchFamily="34" charset="-122"/>
                <a:cs typeface="Meiryo" pitchFamily="34" charset="-120"/>
              </a:rPr>
              <a:t>成果物の概要 / Deliverable</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社内会議向けに、Claude活用を紹介する勉強会一式（資料・アニメ図解・日本語吹替動画）を制作。</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A full internal study-session on using Claude — slide deck, animated diagram and a Japanese-dubbed video.</a:t>
            </a:r>
            <a:endParaRPr lang="en-US" sz="1100" dirty="0"/>
          </a:p>
        </p:txBody>
      </p:sp>
      <p:sp>
        <p:nvSpPr>
          <p:cNvPr id="10" name="Shape 7"/>
          <p:cNvSpPr/>
          <p:nvPr/>
        </p:nvSpPr>
        <p:spPr>
          <a:xfrm>
            <a:off x="640080" y="3977640"/>
            <a:ext cx="5806440" cy="2148840"/>
          </a:xfrm>
          <a:prstGeom prst="roundRect">
            <a:avLst>
              <a:gd name="adj" fmla="val 3830"/>
            </a:avLst>
          </a:prstGeom>
          <a:solidFill>
            <a:srgbClr val="FFFFFF"/>
          </a:solidFill>
          <a:ln/>
          <a:effectLst>
            <a:outerShdw sx="100000" sy="100000" kx="0" ky="0" algn="bl" rotWithShape="0" blurRad="114300" dist="38100" dir="5400000">
              <a:srgbClr val="9AA7B8">
                <a:alpha val="28000"/>
              </a:srgbClr>
            </a:outerShdw>
          </a:effectLst>
        </p:spPr>
      </p:sp>
      <p:sp>
        <p:nvSpPr>
          <p:cNvPr id="11" name="Shape 8"/>
          <p:cNvSpPr/>
          <p:nvPr/>
        </p:nvSpPr>
        <p:spPr>
          <a:xfrm>
            <a:off x="868680" y="4206240"/>
            <a:ext cx="566928" cy="566928"/>
          </a:xfrm>
          <a:prstGeom prst="ellipse">
            <a:avLst/>
          </a:prstGeom>
          <a:solidFill>
            <a:srgbClr val="C0603A"/>
          </a:solidFill>
          <a:ln/>
        </p:spPr>
      </p:sp>
      <p:pic>
        <p:nvPicPr>
          <p:cNvPr id="12" name="Image 1" descr="preencoded.png">    </p:cNvPr>
          <p:cNvPicPr>
            <a:picLocks noChangeAspect="1"/>
          </p:cNvPicPr>
          <p:nvPr/>
        </p:nvPicPr>
        <p:blipFill>
          <a:blip r:embed="rId2"/>
          <a:stretch>
            <a:fillRect/>
          </a:stretch>
        </p:blipFill>
        <p:spPr>
          <a:xfrm>
            <a:off x="1016081" y="4353641"/>
            <a:ext cx="272125" cy="272125"/>
          </a:xfrm>
          <a:prstGeom prst="rect">
            <a:avLst/>
          </a:prstGeom>
        </p:spPr>
      </p:pic>
      <p:sp>
        <p:nvSpPr>
          <p:cNvPr id="13" name="Text 9"/>
          <p:cNvSpPr/>
          <p:nvPr/>
        </p:nvSpPr>
        <p:spPr>
          <a:xfrm>
            <a:off x="1600200" y="4114800"/>
            <a:ext cx="4709160" cy="1874520"/>
          </a:xfrm>
          <a:prstGeom prst="rect">
            <a:avLst/>
          </a:prstGeom>
          <a:noFill/>
          <a:ln/>
        </p:spPr>
        <p:txBody>
          <a:bodyPr wrap="square" lIns="0" tIns="0" rIns="0" bIns="0" rtlCol="0" anchor="t"/>
          <a:lstStyle/>
          <a:p>
            <a:pPr indent="0" marL="0">
              <a:lnSpc>
                <a:spcPct val="108000"/>
              </a:lnSpc>
              <a:buNone/>
            </a:pPr>
            <a:r>
              <a:rPr lang="en-US" sz="1100" b="1" dirty="0">
                <a:solidFill>
                  <a:srgbClr val="C0603A"/>
                </a:solidFill>
                <a:latin typeface="Meiryo" pitchFamily="34" charset="0"/>
                <a:ea typeface="Meiryo" pitchFamily="34" charset="-122"/>
                <a:cs typeface="Meiryo" pitchFamily="34" charset="-120"/>
              </a:rPr>
              <a:t>Claude の活用方法 / How Claude was used</a:t>
            </a:r>
            <a:endParaRPr lang="en-US" sz="1100" dirty="0"/>
          </a:p>
          <a:p>
            <a:pPr indent="0" marL="0">
              <a:lnSpc>
                <a:spcPct val="108000"/>
              </a:lnSpc>
              <a:buNone/>
            </a:pPr>
            <a:r>
              <a:rPr lang="en-US" sz="1250" dirty="0">
                <a:solidFill>
                  <a:srgbClr val="1E293B"/>
                </a:solidFill>
                <a:latin typeface="Meiryo" pitchFamily="34" charset="0"/>
                <a:ea typeface="Meiryo" pitchFamily="34" charset="-122"/>
                <a:cs typeface="Meiryo" pitchFamily="34" charset="-120"/>
              </a:rPr>
              <a:t>Claude Cowork / Claude Design / Artifacts で資料・図解・動画素材を制作（音声吹替はElevenLabsを併用）。</a:t>
            </a:r>
            <a:endParaRPr lang="en-US" sz="1100" dirty="0"/>
          </a:p>
          <a:p>
            <a:pPr indent="0" marL="0">
              <a:lnSpc>
                <a:spcPct val="108000"/>
              </a:lnSpc>
              <a:buNone/>
            </a:pPr>
            <a:r>
              <a:rPr lang="en-US" sz="1000" dirty="0">
                <a:solidFill>
                  <a:srgbClr val="6B7A90"/>
                </a:solidFill>
                <a:latin typeface="Meiryo" pitchFamily="34" charset="0"/>
                <a:ea typeface="Meiryo" pitchFamily="34" charset="-122"/>
                <a:cs typeface="Meiryo" pitchFamily="34" charset="-120"/>
              </a:rPr>
              <a:t>Built the assets with Claude Cowork / Design / Artifacts (voice dubbing via ElevenLabs).</a:t>
            </a:r>
            <a:endParaRPr lang="en-US" sz="1100" dirty="0"/>
          </a:p>
        </p:txBody>
      </p:sp>
      <p:sp>
        <p:nvSpPr>
          <p:cNvPr id="14" name="Text 10"/>
          <p:cNvSpPr/>
          <p:nvPr/>
        </p:nvSpPr>
        <p:spPr>
          <a:xfrm>
            <a:off x="6720840" y="1691640"/>
            <a:ext cx="4846320" cy="365760"/>
          </a:xfrm>
          <a:prstGeom prst="rect">
            <a:avLst/>
          </a:prstGeom>
          <a:noFill/>
          <a:ln/>
        </p:spPr>
        <p:txBody>
          <a:bodyPr wrap="square" lIns="0" tIns="0" rIns="0" bIns="0" rtlCol="0" anchor="ctr"/>
          <a:lstStyle/>
          <a:p>
            <a:pPr indent="0" marL="0">
              <a:buNone/>
            </a:pPr>
            <a:r>
              <a:rPr lang="en-US" sz="1200" b="1" dirty="0">
                <a:solidFill>
                  <a:srgbClr val="1E293B"/>
                </a:solidFill>
                <a:latin typeface="Meiryo" pitchFamily="34" charset="0"/>
                <a:ea typeface="Meiryo" pitchFamily="34" charset="-122"/>
                <a:cs typeface="Meiryo" pitchFamily="34" charset="-120"/>
              </a:rPr>
              <a:t>効果 / Results</a:t>
            </a:r>
            <a:pPr indent="0" marL="0">
              <a:buNone/>
            </a:pPr>
            <a:r>
              <a:rPr lang="en-US" sz="900" dirty="0">
                <a:solidFill>
                  <a:srgbClr val="6B7A90"/>
                </a:solidFill>
                <a:latin typeface="Meiryo" pitchFamily="34" charset="0"/>
                <a:ea typeface="Meiryo" pitchFamily="34" charset="-122"/>
                <a:cs typeface="Meiryo" pitchFamily="34" charset="-120"/>
              </a:rPr>
              <a:t>（時間は概算 / times are estimates）</a:t>
            </a:r>
            <a:endParaRPr lang="en-US" sz="1200" dirty="0"/>
          </a:p>
        </p:txBody>
      </p:sp>
      <p:sp>
        <p:nvSpPr>
          <p:cNvPr id="15" name="Shape 11"/>
          <p:cNvSpPr/>
          <p:nvPr/>
        </p:nvSpPr>
        <p:spPr>
          <a:xfrm>
            <a:off x="6720840" y="2148840"/>
            <a:ext cx="4846320" cy="1924812"/>
          </a:xfrm>
          <a:prstGeom prst="roundRect">
            <a:avLst>
              <a:gd name="adj" fmla="val 4276"/>
            </a:avLst>
          </a:prstGeom>
          <a:solidFill>
            <a:srgbClr val="EAF0F7"/>
          </a:solidFill>
          <a:ln/>
          <a:effectLst>
            <a:outerShdw sx="100000" sy="100000" kx="0" ky="0" algn="bl" rotWithShape="0" blurRad="114300" dist="38100" dir="5400000">
              <a:srgbClr val="9AA7B8">
                <a:alpha val="28000"/>
              </a:srgbClr>
            </a:outerShdw>
          </a:effectLst>
        </p:spPr>
      </p:sp>
      <p:sp>
        <p:nvSpPr>
          <p:cNvPr id="16" name="Text 12"/>
          <p:cNvSpPr/>
          <p:nvPr/>
        </p:nvSpPr>
        <p:spPr>
          <a:xfrm>
            <a:off x="6949440" y="2221992"/>
            <a:ext cx="2331720" cy="1778508"/>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資料一式の制作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Asset creation</a:t>
            </a:r>
            <a:endParaRPr lang="en-US" sz="1200" dirty="0"/>
          </a:p>
        </p:txBody>
      </p:sp>
      <p:sp>
        <p:nvSpPr>
          <p:cNvPr id="17" name="Text 13"/>
          <p:cNvSpPr/>
          <p:nvPr/>
        </p:nvSpPr>
        <p:spPr>
          <a:xfrm>
            <a:off x="9281160" y="2148840"/>
            <a:ext cx="2240280" cy="1924812"/>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数日→約1日</a:t>
            </a:r>
            <a:endParaRPr lang="en-US" sz="1900" dirty="0"/>
          </a:p>
        </p:txBody>
      </p:sp>
      <p:sp>
        <p:nvSpPr>
          <p:cNvPr id="18" name="Shape 14"/>
          <p:cNvSpPr/>
          <p:nvPr/>
        </p:nvSpPr>
        <p:spPr>
          <a:xfrm>
            <a:off x="6720840" y="4201668"/>
            <a:ext cx="4846320" cy="1924812"/>
          </a:xfrm>
          <a:prstGeom prst="roundRect">
            <a:avLst>
              <a:gd name="adj" fmla="val 4276"/>
            </a:avLst>
          </a:prstGeom>
          <a:solidFill>
            <a:srgbClr val="EAF0F7"/>
          </a:solidFill>
          <a:ln/>
          <a:effectLst>
            <a:outerShdw sx="100000" sy="100000" kx="0" ky="0" algn="bl" rotWithShape="0" blurRad="114300" dist="38100" dir="5400000">
              <a:srgbClr val="9AA7B8">
                <a:alpha val="28000"/>
              </a:srgbClr>
            </a:outerShdw>
          </a:effectLst>
        </p:spPr>
      </p:sp>
      <p:sp>
        <p:nvSpPr>
          <p:cNvPr id="19" name="Text 15"/>
          <p:cNvSpPr/>
          <p:nvPr/>
        </p:nvSpPr>
        <p:spPr>
          <a:xfrm>
            <a:off x="6949440" y="4274820"/>
            <a:ext cx="2331720" cy="1778508"/>
          </a:xfrm>
          <a:prstGeom prst="rect">
            <a:avLst/>
          </a:prstGeom>
          <a:noFill/>
          <a:ln/>
        </p:spPr>
        <p:txBody>
          <a:bodyPr wrap="square" lIns="0" tIns="0" rIns="0" bIns="0" rtlCol="0" anchor="ctr"/>
          <a:lstStyle/>
          <a:p>
            <a:pPr indent="0" marL="0">
              <a:lnSpc>
                <a:spcPct val="100000"/>
              </a:lnSpc>
              <a:buNone/>
            </a:pPr>
            <a:r>
              <a:rPr lang="en-US" sz="1200" dirty="0">
                <a:solidFill>
                  <a:srgbClr val="1E293B"/>
                </a:solidFill>
                <a:latin typeface="Meiryo" pitchFamily="34" charset="0"/>
                <a:ea typeface="Meiryo" pitchFamily="34" charset="-122"/>
                <a:cs typeface="Meiryo" pitchFamily="34" charset="-120"/>
              </a:rPr>
              <a:t>社内展開  </a:t>
            </a:r>
            <a:pPr indent="0" marL="0">
              <a:lnSpc>
                <a:spcPct val="100000"/>
              </a:lnSpc>
              <a:buNone/>
            </a:pPr>
            <a:r>
              <a:rPr lang="en-US" sz="1000" dirty="0">
                <a:solidFill>
                  <a:srgbClr val="6B7A90"/>
                </a:solidFill>
                <a:latin typeface="Meiryo" pitchFamily="34" charset="0"/>
                <a:ea typeface="Meiryo" pitchFamily="34" charset="-122"/>
                <a:cs typeface="Meiryo" pitchFamily="34" charset="-120"/>
              </a:rPr>
              <a:t>Team enablement</a:t>
            </a:r>
            <a:endParaRPr lang="en-US" sz="1200" dirty="0"/>
          </a:p>
        </p:txBody>
      </p:sp>
      <p:sp>
        <p:nvSpPr>
          <p:cNvPr id="20" name="Text 16"/>
          <p:cNvSpPr/>
          <p:nvPr/>
        </p:nvSpPr>
        <p:spPr>
          <a:xfrm>
            <a:off x="9281160" y="4201668"/>
            <a:ext cx="2240280" cy="1924812"/>
          </a:xfrm>
          <a:prstGeom prst="rect">
            <a:avLst/>
          </a:prstGeom>
          <a:noFill/>
          <a:ln/>
        </p:spPr>
        <p:txBody>
          <a:bodyPr wrap="square" lIns="0" tIns="0" rIns="0" bIns="0" rtlCol="0" anchor="ctr"/>
          <a:lstStyle/>
          <a:p>
            <a:pPr algn="ctr" indent="0" marL="0">
              <a:buNone/>
            </a:pPr>
            <a:r>
              <a:rPr lang="en-US" sz="1900" b="1" dirty="0">
                <a:solidFill>
                  <a:srgbClr val="C0603A"/>
                </a:solidFill>
                <a:latin typeface="Meiryo" pitchFamily="34" charset="0"/>
                <a:ea typeface="Meiryo" pitchFamily="34" charset="-122"/>
                <a:cs typeface="Meiryo" pitchFamily="34" charset="-120"/>
              </a:rPr>
              <a:t>浸透に貢献</a:t>
            </a:r>
            <a:endParaRPr lang="en-US" sz="1900" dirty="0"/>
          </a:p>
        </p:txBody>
      </p:sp>
      <p:sp>
        <p:nvSpPr>
          <p:cNvPr id="21" name="Text 17"/>
          <p:cNvSpPr/>
          <p:nvPr/>
        </p:nvSpPr>
        <p:spPr>
          <a:xfrm>
            <a:off x="685800" y="6263640"/>
            <a:ext cx="10881360" cy="365760"/>
          </a:xfrm>
          <a:prstGeom prst="rect">
            <a:avLst/>
          </a:prstGeom>
          <a:noFill/>
          <a:ln/>
        </p:spPr>
        <p:txBody>
          <a:bodyPr wrap="square" lIns="0" tIns="0" rIns="0" bIns="0" rtlCol="0" anchor="ctr"/>
          <a:lstStyle/>
          <a:p>
            <a:pPr indent="0" marL="0">
              <a:buNone/>
            </a:pPr>
            <a:r>
              <a:rPr lang="en-US" sz="1050" b="1" dirty="0">
                <a:solidFill>
                  <a:srgbClr val="0F766E"/>
                </a:solidFill>
                <a:latin typeface="Meiryo" pitchFamily="34" charset="0"/>
                <a:ea typeface="Meiryo" pitchFamily="34" charset="-122"/>
                <a:cs typeface="Meiryo" pitchFamily="34" charset="-120"/>
              </a:rPr>
              <a:t>使用技術 / Tech:  </a:t>
            </a:r>
            <a:pPr indent="0" marL="0">
              <a:buNone/>
            </a:pPr>
            <a:r>
              <a:rPr lang="en-US" sz="1050" dirty="0">
                <a:solidFill>
                  <a:srgbClr val="6B7A90"/>
                </a:solidFill>
                <a:latin typeface="Meiryo" pitchFamily="34" charset="0"/>
                <a:ea typeface="Meiryo" pitchFamily="34" charset="-122"/>
                <a:cs typeface="Meiryo" pitchFamily="34" charset="-120"/>
              </a:rPr>
              <a:t>Claude Cowork・Claude Design・Artifacts（＋ElevenLabs 音声）</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33D"/>
        </a:solidFill>
      </p:bgPr>
    </p:bg>
    <p:spTree>
      <p:nvGrpSpPr>
        <p:cNvPr id="1" name=""/>
        <p:cNvGrpSpPr/>
        <p:nvPr/>
      </p:nvGrpSpPr>
      <p:grpSpPr>
        <a:xfrm>
          <a:off x="0" y="0"/>
          <a:ext cx="0" cy="0"/>
          <a:chOff x="0" y="0"/>
          <a:chExt cx="0" cy="0"/>
        </a:xfrm>
      </p:grpSpPr>
      <p:sp>
        <p:nvSpPr>
          <p:cNvPr id="2" name="Shape 0"/>
          <p:cNvSpPr/>
          <p:nvPr/>
        </p:nvSpPr>
        <p:spPr>
          <a:xfrm>
            <a:off x="-1463040" y="4572000"/>
            <a:ext cx="4023360" cy="4023360"/>
          </a:xfrm>
          <a:prstGeom prst="ellipse">
            <a:avLst/>
          </a:prstGeom>
          <a:solidFill>
            <a:srgbClr val="22355C"/>
          </a:solidFill>
          <a:ln/>
        </p:spPr>
      </p:sp>
      <p:sp>
        <p:nvSpPr>
          <p:cNvPr id="3" name="Shape 1"/>
          <p:cNvSpPr/>
          <p:nvPr/>
        </p:nvSpPr>
        <p:spPr>
          <a:xfrm>
            <a:off x="822960" y="640080"/>
            <a:ext cx="822960" cy="822960"/>
          </a:xfrm>
          <a:prstGeom prst="ellipse">
            <a:avLst/>
          </a:prstGeom>
          <a:solidFill>
            <a:srgbClr val="C0603A"/>
          </a:solidFill>
          <a:ln/>
        </p:spPr>
      </p:sp>
      <p:pic>
        <p:nvPicPr>
          <p:cNvPr id="4" name="Image 0" descr="preencoded.png">    </p:cNvPr>
          <p:cNvPicPr>
            <a:picLocks noChangeAspect="1"/>
          </p:cNvPicPr>
          <p:nvPr/>
        </p:nvPicPr>
        <p:blipFill>
          <a:blip r:embed="rId1"/>
          <a:stretch>
            <a:fillRect/>
          </a:stretch>
        </p:blipFill>
        <p:spPr>
          <a:xfrm>
            <a:off x="1036930" y="854050"/>
            <a:ext cx="395021" cy="395021"/>
          </a:xfrm>
          <a:prstGeom prst="rect">
            <a:avLst/>
          </a:prstGeom>
        </p:spPr>
      </p:pic>
      <p:sp>
        <p:nvSpPr>
          <p:cNvPr id="5" name="Text 2"/>
          <p:cNvSpPr/>
          <p:nvPr/>
        </p:nvSpPr>
        <p:spPr>
          <a:xfrm>
            <a:off x="1828800" y="658368"/>
            <a:ext cx="7315200" cy="8686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まとめ</a:t>
            </a:r>
            <a:endParaRPr lang="en-US" sz="3000" dirty="0"/>
          </a:p>
          <a:p>
            <a:pPr indent="0" marL="0">
              <a:buNone/>
            </a:pPr>
            <a:r>
              <a:rPr lang="en-US" sz="1400" dirty="0">
                <a:solidFill>
                  <a:srgbClr val="9FB0C9"/>
                </a:solidFill>
                <a:latin typeface="Meiryo" pitchFamily="34" charset="0"/>
                <a:ea typeface="Meiryo" pitchFamily="34" charset="-122"/>
                <a:cs typeface="Meiryo" pitchFamily="34" charset="-120"/>
              </a:rPr>
              <a:t>Summary</a:t>
            </a:r>
            <a:endParaRPr lang="en-US" sz="3000" dirty="0"/>
          </a:p>
        </p:txBody>
      </p:sp>
      <p:sp>
        <p:nvSpPr>
          <p:cNvPr id="6" name="Text 3"/>
          <p:cNvSpPr/>
          <p:nvPr/>
        </p:nvSpPr>
        <p:spPr>
          <a:xfrm>
            <a:off x="822960" y="1828800"/>
            <a:ext cx="6949440" cy="1920240"/>
          </a:xfrm>
          <a:prstGeom prst="rect">
            <a:avLst/>
          </a:prstGeom>
          <a:noFill/>
          <a:ln/>
        </p:spPr>
        <p:txBody>
          <a:bodyPr wrap="square" lIns="0" tIns="0" rIns="0" bIns="0" rtlCol="0" anchor="t"/>
          <a:lstStyle/>
          <a:p>
            <a:pPr indent="0" marL="0">
              <a:lnSpc>
                <a:spcPct val="115000"/>
              </a:lnSpc>
              <a:buNone/>
            </a:pPr>
            <a:r>
              <a:rPr lang="en-US" sz="1500" b="1" dirty="0">
                <a:solidFill>
                  <a:srgbClr val="FFFFFF"/>
                </a:solidFill>
                <a:latin typeface="Meiryo" pitchFamily="34" charset="0"/>
                <a:ea typeface="Meiryo" pitchFamily="34" charset="-122"/>
                <a:cs typeface="Meiryo" pitchFamily="34" charset="-120"/>
              </a:rPr>
              <a:t>Claudeを実プロジェクトで一貫して活用し、ツール・QA・データ分析・ドキュメントにわたる実際の成果物を、機密に配慮しながら制作してきました。</a:t>
            </a:r>
            <a:endParaRPr lang="en-US" sz="1500" dirty="0"/>
          </a:p>
          <a:p>
            <a:pPr indent="0" marL="0">
              <a:lnSpc>
                <a:spcPct val="115000"/>
              </a:lnSpc>
              <a:buNone/>
            </a:pPr>
            <a:r>
              <a:rPr lang="en-US" sz="1150" dirty="0">
                <a:solidFill>
                  <a:srgbClr val="AEBDD2"/>
                </a:solidFill>
                <a:latin typeface="Meiryo" pitchFamily="34" charset="0"/>
                <a:ea typeface="Meiryo" pitchFamily="34" charset="-122"/>
                <a:cs typeface="Meiryo" pitchFamily="34" charset="-120"/>
              </a:rPr>
              <a:t>I've used Claude consistently on a live project to produce real deliverables across tooling, QA, analysis and documentation — with confidentiality protected throughout.</a:t>
            </a:r>
            <a:endParaRPr lang="en-US" sz="1500" dirty="0"/>
          </a:p>
        </p:txBody>
      </p:sp>
      <p:sp>
        <p:nvSpPr>
          <p:cNvPr id="7" name="Shape 4"/>
          <p:cNvSpPr/>
          <p:nvPr/>
        </p:nvSpPr>
        <p:spPr>
          <a:xfrm>
            <a:off x="868680" y="3977640"/>
            <a:ext cx="457200" cy="457200"/>
          </a:xfrm>
          <a:prstGeom prst="ellipse">
            <a:avLst/>
          </a:prstGeom>
          <a:solidFill>
            <a:srgbClr val="0F766E"/>
          </a:solidFill>
          <a:ln/>
        </p:spPr>
      </p:sp>
      <p:pic>
        <p:nvPicPr>
          <p:cNvPr id="8" name="Image 1" descr="preencoded.png">    </p:cNvPr>
          <p:cNvPicPr>
            <a:picLocks noChangeAspect="1"/>
          </p:cNvPicPr>
          <p:nvPr/>
        </p:nvPicPr>
        <p:blipFill>
          <a:blip r:embed="rId2"/>
          <a:stretch>
            <a:fillRect/>
          </a:stretch>
        </p:blipFill>
        <p:spPr>
          <a:xfrm>
            <a:off x="987552" y="4096512"/>
            <a:ext cx="219456" cy="219456"/>
          </a:xfrm>
          <a:prstGeom prst="rect">
            <a:avLst/>
          </a:prstGeom>
        </p:spPr>
      </p:pic>
      <p:sp>
        <p:nvSpPr>
          <p:cNvPr id="9" name="Text 5"/>
          <p:cNvSpPr/>
          <p:nvPr/>
        </p:nvSpPr>
        <p:spPr>
          <a:xfrm>
            <a:off x="1508760" y="3931920"/>
            <a:ext cx="6217920" cy="54864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成果物ベースの実績  </a:t>
            </a:r>
            <a:pPr indent="0" marL="0">
              <a:buNone/>
            </a:pPr>
            <a:r>
              <a:rPr lang="en-US" sz="1050" dirty="0">
                <a:solidFill>
                  <a:srgbClr val="9FB0C9"/>
                </a:solidFill>
                <a:latin typeface="Meiryo" pitchFamily="34" charset="0"/>
                <a:ea typeface="Meiryo" pitchFamily="34" charset="-122"/>
                <a:cs typeface="Meiryo" pitchFamily="34" charset="-120"/>
              </a:rPr>
              <a:t>Deliverable-based track record</a:t>
            </a:r>
            <a:endParaRPr lang="en-US" sz="1300" dirty="0"/>
          </a:p>
        </p:txBody>
      </p:sp>
      <p:sp>
        <p:nvSpPr>
          <p:cNvPr id="10" name="Shape 6"/>
          <p:cNvSpPr/>
          <p:nvPr/>
        </p:nvSpPr>
        <p:spPr>
          <a:xfrm>
            <a:off x="868680" y="4636008"/>
            <a:ext cx="457200" cy="457200"/>
          </a:xfrm>
          <a:prstGeom prst="ellipse">
            <a:avLst/>
          </a:prstGeom>
          <a:solidFill>
            <a:srgbClr val="0F766E"/>
          </a:solidFill>
          <a:ln/>
        </p:spPr>
      </p:sp>
      <p:pic>
        <p:nvPicPr>
          <p:cNvPr id="11" name="Image 2" descr="preencoded.png">    </p:cNvPr>
          <p:cNvPicPr>
            <a:picLocks noChangeAspect="1"/>
          </p:cNvPicPr>
          <p:nvPr/>
        </p:nvPicPr>
        <p:blipFill>
          <a:blip r:embed="rId3"/>
          <a:stretch>
            <a:fillRect/>
          </a:stretch>
        </p:blipFill>
        <p:spPr>
          <a:xfrm>
            <a:off x="987552" y="4754880"/>
            <a:ext cx="219456" cy="219456"/>
          </a:xfrm>
          <a:prstGeom prst="rect">
            <a:avLst/>
          </a:prstGeom>
        </p:spPr>
      </p:pic>
      <p:sp>
        <p:nvSpPr>
          <p:cNvPr id="12" name="Text 7"/>
          <p:cNvSpPr/>
          <p:nvPr/>
        </p:nvSpPr>
        <p:spPr>
          <a:xfrm>
            <a:off x="1508760" y="4590288"/>
            <a:ext cx="6217920" cy="54864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機密に配慮した安全な活用  </a:t>
            </a:r>
            <a:pPr indent="0" marL="0">
              <a:buNone/>
            </a:pPr>
            <a:r>
              <a:rPr lang="en-US" sz="1050" dirty="0">
                <a:solidFill>
                  <a:srgbClr val="9FB0C9"/>
                </a:solidFill>
                <a:latin typeface="Meiryo" pitchFamily="34" charset="0"/>
                <a:ea typeface="Meiryo" pitchFamily="34" charset="-122"/>
                <a:cs typeface="Meiryo" pitchFamily="34" charset="-120"/>
              </a:rPr>
              <a:t>Secure, redaction-first usage</a:t>
            </a:r>
            <a:endParaRPr lang="en-US" sz="1300" dirty="0"/>
          </a:p>
        </p:txBody>
      </p:sp>
      <p:sp>
        <p:nvSpPr>
          <p:cNvPr id="13" name="Shape 8"/>
          <p:cNvSpPr/>
          <p:nvPr/>
        </p:nvSpPr>
        <p:spPr>
          <a:xfrm>
            <a:off x="868680" y="5294376"/>
            <a:ext cx="457200" cy="457200"/>
          </a:xfrm>
          <a:prstGeom prst="ellipse">
            <a:avLst/>
          </a:prstGeom>
          <a:solidFill>
            <a:srgbClr val="0F766E"/>
          </a:solidFill>
          <a:ln/>
        </p:spPr>
      </p:sp>
      <p:pic>
        <p:nvPicPr>
          <p:cNvPr id="14" name="Image 3" descr="preencoded.png">    </p:cNvPr>
          <p:cNvPicPr>
            <a:picLocks noChangeAspect="1"/>
          </p:cNvPicPr>
          <p:nvPr/>
        </p:nvPicPr>
        <p:blipFill>
          <a:blip r:embed="rId4"/>
          <a:stretch>
            <a:fillRect/>
          </a:stretch>
        </p:blipFill>
        <p:spPr>
          <a:xfrm>
            <a:off x="987552" y="5413248"/>
            <a:ext cx="219456" cy="219456"/>
          </a:xfrm>
          <a:prstGeom prst="rect">
            <a:avLst/>
          </a:prstGeom>
        </p:spPr>
      </p:pic>
      <p:sp>
        <p:nvSpPr>
          <p:cNvPr id="15" name="Text 9"/>
          <p:cNvSpPr/>
          <p:nvPr/>
        </p:nvSpPr>
        <p:spPr>
          <a:xfrm>
            <a:off x="1508760" y="5248656"/>
            <a:ext cx="6217920" cy="54864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御社の効率化を実践的に支援  </a:t>
            </a:r>
            <a:pPr indent="0" marL="0">
              <a:buNone/>
            </a:pPr>
            <a:r>
              <a:rPr lang="en-US" sz="1050" dirty="0">
                <a:solidFill>
                  <a:srgbClr val="9FB0C9"/>
                </a:solidFill>
                <a:latin typeface="Meiryo" pitchFamily="34" charset="0"/>
                <a:ea typeface="Meiryo" pitchFamily="34" charset="-122"/>
                <a:cs typeface="Meiryo" pitchFamily="34" charset="-120"/>
              </a:rPr>
              <a:t>Practical support for your goals</a:t>
            </a:r>
            <a:endParaRPr lang="en-US" sz="1300" dirty="0"/>
          </a:p>
        </p:txBody>
      </p:sp>
      <p:sp>
        <p:nvSpPr>
          <p:cNvPr id="16" name="Shape 10"/>
          <p:cNvSpPr/>
          <p:nvPr/>
        </p:nvSpPr>
        <p:spPr>
          <a:xfrm>
            <a:off x="8183880" y="1828800"/>
            <a:ext cx="3383280" cy="3566160"/>
          </a:xfrm>
          <a:prstGeom prst="roundRect">
            <a:avLst>
              <a:gd name="adj" fmla="val 2432"/>
            </a:avLst>
          </a:prstGeom>
          <a:solidFill>
            <a:srgbClr val="22355C"/>
          </a:solidFill>
          <a:ln/>
          <a:effectLst>
            <a:outerShdw sx="100000" sy="100000" kx="0" ky="0" algn="bl" rotWithShape="0" blurRad="114300" dist="38100" dir="5400000">
              <a:srgbClr val="9AA7B8">
                <a:alpha val="28000"/>
              </a:srgbClr>
            </a:outerShdw>
          </a:effectLst>
        </p:spPr>
      </p:sp>
      <p:sp>
        <p:nvSpPr>
          <p:cNvPr id="17" name="Text 11"/>
          <p:cNvSpPr/>
          <p:nvPr/>
        </p:nvSpPr>
        <p:spPr>
          <a:xfrm>
            <a:off x="8458200" y="2148840"/>
            <a:ext cx="2834640" cy="1828800"/>
          </a:xfrm>
          <a:prstGeom prst="rect">
            <a:avLst/>
          </a:prstGeom>
          <a:noFill/>
          <a:ln/>
        </p:spPr>
        <p:txBody>
          <a:bodyPr wrap="square" lIns="0" tIns="0" rIns="0" bIns="0" rtlCol="0" anchor="ctr"/>
          <a:lstStyle/>
          <a:p>
            <a:pPr indent="0" marL="0">
              <a:lnSpc>
                <a:spcPct val="100000"/>
              </a:lnSpc>
              <a:buNone/>
            </a:pPr>
            <a:r>
              <a:rPr lang="en-US" sz="1400" dirty="0">
                <a:solidFill>
                  <a:srgbClr val="C8D4E6"/>
                </a:solidFill>
                <a:latin typeface="Meiryo" pitchFamily="34" charset="0"/>
                <a:ea typeface="Meiryo" pitchFamily="34" charset="-122"/>
                <a:cs typeface="Meiryo" pitchFamily="34" charset="-120"/>
              </a:rPr>
              <a:t>作業工数</a:t>
            </a:r>
            <a:endParaRPr lang="en-US" sz="1400" dirty="0"/>
          </a:p>
          <a:p>
            <a:pPr indent="0" marL="0">
              <a:lnSpc>
                <a:spcPct val="100000"/>
              </a:lnSpc>
              <a:buNone/>
            </a:pPr>
            <a:r>
              <a:rPr lang="en-US" sz="3400" b="1" dirty="0">
                <a:solidFill>
                  <a:srgbClr val="FFFFFF"/>
                </a:solidFill>
                <a:latin typeface="Meiryo" pitchFamily="34" charset="0"/>
                <a:ea typeface="Meiryo" pitchFamily="34" charset="-122"/>
                <a:cs typeface="Meiryo" pitchFamily="34" charset="-120"/>
              </a:rPr>
              <a:t>半分以上</a:t>
            </a:r>
            <a:endParaRPr lang="en-US" sz="1400" dirty="0"/>
          </a:p>
          <a:p>
            <a:pPr indent="0" marL="0">
              <a:lnSpc>
                <a:spcPct val="100000"/>
              </a:lnSpc>
              <a:buNone/>
            </a:pPr>
            <a:r>
              <a:rPr lang="en-US" sz="2000" b="1" dirty="0">
                <a:solidFill>
                  <a:srgbClr val="FFFFFF"/>
                </a:solidFill>
                <a:latin typeface="Meiryo" pitchFamily="34" charset="0"/>
                <a:ea typeface="Meiryo" pitchFamily="34" charset="-122"/>
                <a:cs typeface="Meiryo" pitchFamily="34" charset="-120"/>
              </a:rPr>
              <a:t>削減</a:t>
            </a:r>
            <a:endParaRPr lang="en-US" sz="1400" dirty="0"/>
          </a:p>
          <a:p>
            <a:pPr indent="0" marL="0">
              <a:lnSpc>
                <a:spcPct val="100000"/>
              </a:lnSpc>
              <a:buNone/>
            </a:pPr>
            <a:r>
              <a:rPr lang="en-US" sz="1100" dirty="0">
                <a:solidFill>
                  <a:srgbClr val="9FB0C9"/>
                </a:solidFill>
                <a:latin typeface="Meiryo" pitchFamily="34" charset="0"/>
                <a:ea typeface="Meiryo" pitchFamily="34" charset="-122"/>
                <a:cs typeface="Meiryo" pitchFamily="34" charset="-120"/>
              </a:rPr>
              <a:t>cut by half or more</a:t>
            </a:r>
            <a:endParaRPr lang="en-US" sz="1400" dirty="0"/>
          </a:p>
        </p:txBody>
      </p:sp>
      <p:sp>
        <p:nvSpPr>
          <p:cNvPr id="18" name="Shape 12"/>
          <p:cNvSpPr/>
          <p:nvPr/>
        </p:nvSpPr>
        <p:spPr>
          <a:xfrm>
            <a:off x="8458200" y="4114800"/>
            <a:ext cx="2834640" cy="0"/>
          </a:xfrm>
          <a:prstGeom prst="line">
            <a:avLst/>
          </a:prstGeom>
          <a:noFill/>
          <a:ln w="12700">
            <a:solidFill>
              <a:srgbClr val="34496E"/>
            </a:solidFill>
            <a:prstDash val="solid"/>
          </a:ln>
        </p:spPr>
      </p:sp>
      <p:sp>
        <p:nvSpPr>
          <p:cNvPr id="19" name="Text 13"/>
          <p:cNvSpPr/>
          <p:nvPr/>
        </p:nvSpPr>
        <p:spPr>
          <a:xfrm>
            <a:off x="8458200" y="4251960"/>
            <a:ext cx="2834640" cy="914400"/>
          </a:xfrm>
          <a:prstGeom prst="rect">
            <a:avLst/>
          </a:prstGeom>
          <a:noFill/>
          <a:ln/>
        </p:spPr>
        <p:txBody>
          <a:bodyPr wrap="square" lIns="0" tIns="0" rIns="0" bIns="0" rtlCol="0" anchor="ctr"/>
          <a:lstStyle/>
          <a:p>
            <a:pPr indent="0" marL="0">
              <a:lnSpc>
                <a:spcPct val="105000"/>
              </a:lnSpc>
              <a:buNone/>
            </a:pPr>
            <a:r>
              <a:rPr lang="en-US" sz="1500" b="1" dirty="0">
                <a:solidFill>
                  <a:srgbClr val="F3E6DE"/>
                </a:solidFill>
                <a:latin typeface="Meiryo" pitchFamily="34" charset="0"/>
                <a:ea typeface="Meiryo" pitchFamily="34" charset="-122"/>
                <a:cs typeface="Meiryo" pitchFamily="34" charset="-120"/>
              </a:rPr>
              <a:t>例：約7日 → 約2日</a:t>
            </a:r>
            <a:endParaRPr lang="en-US" sz="1500" dirty="0"/>
          </a:p>
          <a:p>
            <a:pPr indent="0" marL="0">
              <a:lnSpc>
                <a:spcPct val="105000"/>
              </a:lnSpc>
              <a:buNone/>
            </a:pPr>
            <a:r>
              <a:rPr lang="en-US" sz="1050" dirty="0">
                <a:solidFill>
                  <a:srgbClr val="9FB0C9"/>
                </a:solidFill>
                <a:latin typeface="Meiryo" pitchFamily="34" charset="0"/>
                <a:ea typeface="Meiryo" pitchFamily="34" charset="-122"/>
                <a:cs typeface="Meiryo" pitchFamily="34" charset="-120"/>
              </a:rPr>
              <a:t>~7 days → ~2 days（概算 / est.）</a:t>
            </a:r>
            <a:endParaRPr lang="en-US" sz="1500" dirty="0"/>
          </a:p>
        </p:txBody>
      </p:sp>
      <p:sp>
        <p:nvSpPr>
          <p:cNvPr id="20" name="Text 14"/>
          <p:cNvSpPr/>
          <p:nvPr/>
        </p:nvSpPr>
        <p:spPr>
          <a:xfrm>
            <a:off x="822960" y="6172200"/>
            <a:ext cx="10515600" cy="365760"/>
          </a:xfrm>
          <a:prstGeom prst="rect">
            <a:avLst/>
          </a:prstGeom>
          <a:noFill/>
          <a:ln/>
        </p:spPr>
        <p:txBody>
          <a:bodyPr wrap="square" lIns="0" tIns="0" rIns="0" bIns="0" rtlCol="0" anchor="ctr"/>
          <a:lstStyle/>
          <a:p>
            <a:pPr indent="0" marL="0">
              <a:buNone/>
            </a:pPr>
            <a:r>
              <a:rPr lang="en-US" sz="1200" i="1" dirty="0">
                <a:solidFill>
                  <a:srgbClr val="8FA0BA"/>
                </a:solidFill>
                <a:latin typeface="Meiryo" pitchFamily="34" charset="0"/>
                <a:ea typeface="Meiryo" pitchFamily="34" charset="-122"/>
                <a:cs typeface="Meiryo" pitchFamily="34" charset="-120"/>
              </a:rPr>
              <a:t>ご清聴ありがとうございました / 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Claudeを活用した成果物のご紹介</dc:title>
  <dc:subject>PptxGenJS Presentation</dc:subject>
  <dc:creator>Nafis Iqbal</dc:creator>
  <cp:lastModifiedBy>Nafis Iqbal</cp:lastModifiedBy>
  <cp:revision>1</cp:revision>
  <dcterms:created xsi:type="dcterms:W3CDTF">2026-07-06T08:44:11Z</dcterms:created>
  <dcterms:modified xsi:type="dcterms:W3CDTF">2026-07-06T08:44:11Z</dcterms:modified>
</cp:coreProperties>
</file>