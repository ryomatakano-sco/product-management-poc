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4"/>
  </p:notesMasterIdLst>
  <p:sldIdLst>
    <p:sldId id="3791" r:id="rId2"/>
    <p:sldId id="3798" r:id="rId3"/>
  </p:sldIdLst>
  <p:sldSz cx="9906000" cy="6858000" type="A4"/>
  <p:notesSz cx="6807200" cy="99393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2C6E49"/>
    <a:srgbClr val="333333"/>
    <a:srgbClr val="446861"/>
    <a:srgbClr val="1D4940"/>
    <a:srgbClr val="DAE8FD"/>
    <a:srgbClr val="DCF3FF"/>
    <a:srgbClr val="74B4CE"/>
    <a:srgbClr val="F6CFA0"/>
    <a:srgbClr val="FFE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2A52D6-4EB9-4B78-BDCF-F256FF2F6203}" v="3" dt="2025-09-26T04:20:47.2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35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百瀬　陽一" userId="73806faf-f2ad-4009-96eb-6c85b61d9bb8" providerId="ADAL" clId="{91D421E3-B2B9-469F-89DD-A50BB2C16C9A}"/>
    <pc:docChg chg="custSel modSld">
      <pc:chgData name="百瀬　陽一" userId="73806faf-f2ad-4009-96eb-6c85b61d9bb8" providerId="ADAL" clId="{91D421E3-B2B9-469F-89DD-A50BB2C16C9A}" dt="2025-09-26T04:20:47.264" v="4"/>
      <pc:docMkLst>
        <pc:docMk/>
      </pc:docMkLst>
      <pc:sldChg chg="addSp delSp modSp mod">
        <pc:chgData name="百瀬　陽一" userId="73806faf-f2ad-4009-96eb-6c85b61d9bb8" providerId="ADAL" clId="{91D421E3-B2B9-469F-89DD-A50BB2C16C9A}" dt="2025-09-26T04:20:47.264" v="4"/>
        <pc:sldMkLst>
          <pc:docMk/>
          <pc:sldMk cId="1506381332" sldId="3805"/>
        </pc:sldMkLst>
        <pc:spChg chg="add del mod">
          <ac:chgData name="百瀬　陽一" userId="73806faf-f2ad-4009-96eb-6c85b61d9bb8" providerId="ADAL" clId="{91D421E3-B2B9-469F-89DD-A50BB2C16C9A}" dt="2025-09-26T04:20:46.861" v="3" actId="478"/>
          <ac:spMkLst>
            <pc:docMk/>
            <pc:sldMk cId="1506381332" sldId="3805"/>
            <ac:spMk id="12" creationId="{DA56FA71-264D-F17B-0619-A88388CB028A}"/>
          </ac:spMkLst>
        </pc:spChg>
        <pc:spChg chg="add mod">
          <ac:chgData name="百瀬　陽一" userId="73806faf-f2ad-4009-96eb-6c85b61d9bb8" providerId="ADAL" clId="{91D421E3-B2B9-469F-89DD-A50BB2C16C9A}" dt="2025-09-26T04:20:41.629" v="2"/>
          <ac:spMkLst>
            <pc:docMk/>
            <pc:sldMk cId="1506381332" sldId="3805"/>
            <ac:spMk id="17" creationId="{3035209D-C1EC-D2F7-DC31-9BFE72B2EB25}"/>
          </ac:spMkLst>
        </pc:spChg>
        <pc:spChg chg="add mod">
          <ac:chgData name="百瀬　陽一" userId="73806faf-f2ad-4009-96eb-6c85b61d9bb8" providerId="ADAL" clId="{91D421E3-B2B9-469F-89DD-A50BB2C16C9A}" dt="2025-09-26T04:20:47.264" v="4"/>
          <ac:spMkLst>
            <pc:docMk/>
            <pc:sldMk cId="1506381332" sldId="3805"/>
            <ac:spMk id="18" creationId="{3EF2FD6A-4C62-E4AB-5F44-4F16F4AC034E}"/>
          </ac:spMkLst>
        </pc:spChg>
        <pc:spChg chg="del">
          <ac:chgData name="百瀬　陽一" userId="73806faf-f2ad-4009-96eb-6c85b61d9bb8" providerId="ADAL" clId="{91D421E3-B2B9-469F-89DD-A50BB2C16C9A}" dt="2025-09-26T04:20:40.200" v="0" actId="478"/>
          <ac:spMkLst>
            <pc:docMk/>
            <pc:sldMk cId="1506381332" sldId="3805"/>
            <ac:spMk id="37889" creationId="{68268276-EB9D-FB76-121A-3EA31410AE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70680958-E86B-4B43-9801-7D5A1DDC2E99}" type="datetimeFigureOut">
              <a:rPr lang="ja-JP" altLang="en-US"/>
              <a:pPr>
                <a:defRPr/>
              </a:pPr>
              <a:t>2026/7/6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C282B33E-996B-4854-A24D-A92CD7C1D3F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79559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1160E-A5B2-670A-3973-0306E1CF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654AEF-73CD-D3C9-4E91-339676363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9FDBB9E-D466-C26F-1DAA-43AA655F0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049CF3C-CFAB-00B5-BB20-13DBC39C2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82B33E-996B-4854-A24D-A92CD7C1D3F5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27040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0" descr="Light horizontal"/>
          <p:cNvSpPr>
            <a:spLocks noChangeArrowheads="1"/>
          </p:cNvSpPr>
          <p:nvPr/>
        </p:nvSpPr>
        <p:spPr bwMode="gray">
          <a:xfrm>
            <a:off x="2647" y="5292"/>
            <a:ext cx="1595437" cy="6848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5" name="Rectangle 41"/>
          <p:cNvSpPr>
            <a:spLocks noChangeArrowheads="1"/>
          </p:cNvSpPr>
          <p:nvPr/>
        </p:nvSpPr>
        <p:spPr bwMode="invGray">
          <a:xfrm>
            <a:off x="0" y="2924175"/>
            <a:ext cx="9917113" cy="1103313"/>
          </a:xfrm>
          <a:prstGeom prst="rect">
            <a:avLst/>
          </a:prstGeom>
          <a:solidFill>
            <a:srgbClr val="3A5A40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6" name="AutoShape 42"/>
          <p:cNvSpPr>
            <a:spLocks noChangeArrowheads="1"/>
          </p:cNvSpPr>
          <p:nvPr/>
        </p:nvSpPr>
        <p:spPr bwMode="gray">
          <a:xfrm>
            <a:off x="1320800" y="3762375"/>
            <a:ext cx="7677150" cy="533400"/>
          </a:xfrm>
          <a:prstGeom prst="roundRect">
            <a:avLst>
              <a:gd name="adj" fmla="val 16667"/>
            </a:avLst>
          </a:prstGeom>
          <a:solidFill>
            <a:srgbClr val="2C6E49"/>
          </a:solidFill>
          <a:ln w="2857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pic>
        <p:nvPicPr>
          <p:cNvPr id="7" name="図 10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40050" y="5153025"/>
            <a:ext cx="4025900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2480" y="2924943"/>
            <a:ext cx="9361040" cy="8382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ja-JP" altLang="en-US" noProof="0"/>
              <a:t>マスター タイトルの書式設定</a:t>
            </a:r>
            <a:endParaRPr lang="en-US" altLang="ja-JP" noProof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441158" y="3822405"/>
            <a:ext cx="747083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>
                <a:solidFill>
                  <a:srgbClr val="FEFEFE"/>
                </a:solidFill>
              </a:defRPr>
            </a:lvl1pPr>
          </a:lstStyle>
          <a:p>
            <a:pPr lvl="0"/>
            <a:r>
              <a:rPr lang="ja-JP" altLang="en-US" noProof="0"/>
              <a:t>マスター サブタイトルの書式設定</a:t>
            </a:r>
            <a:endParaRPr lang="en-US" altLang="ja-JP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サブ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 descr="Light horizontal"/>
          <p:cNvSpPr>
            <a:spLocks noChangeArrowheads="1"/>
          </p:cNvSpPr>
          <p:nvPr/>
        </p:nvSpPr>
        <p:spPr bwMode="gray">
          <a:xfrm>
            <a:off x="2647" y="5292"/>
            <a:ext cx="1595437" cy="6848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4" name="Rectangle 41"/>
          <p:cNvSpPr>
            <a:spLocks noChangeArrowheads="1"/>
          </p:cNvSpPr>
          <p:nvPr/>
        </p:nvSpPr>
        <p:spPr bwMode="invGray">
          <a:xfrm>
            <a:off x="0" y="2763838"/>
            <a:ext cx="9917113" cy="1103312"/>
          </a:xfrm>
          <a:prstGeom prst="rect">
            <a:avLst/>
          </a:prstGeom>
          <a:solidFill>
            <a:srgbClr val="3A5A40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2480" y="2897079"/>
            <a:ext cx="9361040" cy="8382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ja-JP" altLang="en-US" noProof="0"/>
              <a:t>マスター タイトルの書式設定</a:t>
            </a:r>
            <a:endParaRPr lang="en-US" altLang="ja-JP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はじめ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4"/>
          <p:cNvSpPr txBox="1"/>
          <p:nvPr userDrawn="1"/>
        </p:nvSpPr>
        <p:spPr>
          <a:xfrm>
            <a:off x="622300" y="1165225"/>
            <a:ext cx="6413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ja-JP" altLang="en-US" sz="1600" b="1">
                <a:solidFill>
                  <a:srgbClr val="37423D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拝啓</a:t>
            </a:r>
          </a:p>
        </p:txBody>
      </p:sp>
      <p:sp>
        <p:nvSpPr>
          <p:cNvPr id="4" name="テキスト ボックス 5"/>
          <p:cNvSpPr txBox="1"/>
          <p:nvPr userDrawn="1"/>
        </p:nvSpPr>
        <p:spPr>
          <a:xfrm>
            <a:off x="8985250" y="4773613"/>
            <a:ext cx="642938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ja-JP" altLang="en-US" sz="1600" b="1">
                <a:solidFill>
                  <a:srgbClr val="37423D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敬具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5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8B6C95B2-08E2-4E79-AD3C-0EC31FF70C9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968AD226-E717-4D89-BBA6-DE30177DD3C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75879" y="1709739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75879" y="4589464"/>
            <a:ext cx="8543925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2E5111F4-29D3-4877-A690-F7D3D6FDDD5C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95300" y="1066800"/>
            <a:ext cx="4375150" cy="5334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35550" y="1066800"/>
            <a:ext cx="4375150" cy="5334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7AA34398-11C8-4359-AC4E-9D5B40244358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82758" y="1681163"/>
            <a:ext cx="419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82758" y="2505075"/>
            <a:ext cx="419113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77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C9949E16-FF8B-49E0-9BB5-3244ED6138E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D39074F6-1A53-CF00-D851-E468F9B1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3" y="329669"/>
            <a:ext cx="8388350" cy="600075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1649986D-5D6B-4B5C-89B5-022834A95DC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B23079D7-E90F-4A87-8F6F-14BE69D0D88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2758" y="987426"/>
            <a:ext cx="3195373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21177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82758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949B6AFE-7FD4-409A-BC1E-914E800EB7AD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2758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421177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82758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49567D87-27B9-483B-B4CD-A73AB922CCCC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1F5B5583-5E87-4CF8-B1C9-7974C809B93E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66373" y="1007532"/>
            <a:ext cx="2244328" cy="5393268"/>
          </a:xfrm>
        </p:spPr>
        <p:txBody>
          <a:bodyPr vert="eaVert"/>
          <a:lstStyle>
            <a:lvl1pPr>
              <a:defRPr>
                <a:solidFill>
                  <a:srgbClr val="37423D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29948" y="1007532"/>
            <a:ext cx="6571325" cy="539326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2AD8BA88-42E3-42A3-9721-F418469F35D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タイトルと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9948" y="300039"/>
            <a:ext cx="8389144" cy="600075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表プレースホルダー 2"/>
          <p:cNvSpPr>
            <a:spLocks noGrp="1"/>
          </p:cNvSpPr>
          <p:nvPr>
            <p:ph type="tbl" idx="1"/>
          </p:nvPr>
        </p:nvSpPr>
        <p:spPr>
          <a:xfrm>
            <a:off x="495300" y="1066800"/>
            <a:ext cx="8915400" cy="5334000"/>
          </a:xfrm>
        </p:spPr>
        <p:txBody>
          <a:bodyPr/>
          <a:lstStyle/>
          <a:p>
            <a:pPr lvl="0"/>
            <a:r>
              <a:rPr lang="ja-JP" altLang="en-US" noProof="0"/>
              <a:t>表を追加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>
              <a:defRPr/>
            </a:pPr>
            <a:fld id="{20DA5D28-CA99-4D01-95CE-108F358FED37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5" descr="Light horizontal"/>
          <p:cNvSpPr>
            <a:spLocks noChangeArrowheads="1"/>
          </p:cNvSpPr>
          <p:nvPr userDrawn="1"/>
        </p:nvSpPr>
        <p:spPr bwMode="gray">
          <a:xfrm>
            <a:off x="0" y="0"/>
            <a:ext cx="511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4" name="Rectangle 66"/>
          <p:cNvSpPr>
            <a:spLocks noChangeArrowheads="1"/>
          </p:cNvSpPr>
          <p:nvPr userDrawn="1"/>
        </p:nvSpPr>
        <p:spPr bwMode="auto">
          <a:xfrm>
            <a:off x="0" y="4545013"/>
            <a:ext cx="9906000" cy="725487"/>
          </a:xfrm>
          <a:prstGeom prst="rect">
            <a:avLst/>
          </a:prstGeom>
          <a:solidFill>
            <a:srgbClr val="2C6E49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5" name="テキスト ボックス 7"/>
          <p:cNvSpPr txBox="1"/>
          <p:nvPr userDrawn="1"/>
        </p:nvSpPr>
        <p:spPr>
          <a:xfrm>
            <a:off x="6160487" y="6581775"/>
            <a:ext cx="38667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/>
            </a:pPr>
            <a:r>
              <a:rPr lang="en-US" altLang="ja-JP" sz="1200">
                <a:solidFill>
                  <a:schemeClr val="bg1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Copyright © SYSYSTEM </a:t>
            </a:r>
            <a:r>
              <a:rPr lang="en-US" altLang="ja-JP" sz="1200" err="1">
                <a:solidFill>
                  <a:schemeClr val="bg1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Co.,Ltd</a:t>
            </a:r>
            <a:r>
              <a:rPr lang="en-US" altLang="ja-JP" sz="1200">
                <a:solidFill>
                  <a:schemeClr val="bg1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. All rights reserved.</a:t>
            </a:r>
            <a:endParaRPr lang="ja-JP" altLang="en-US" sz="1200">
              <a:solidFill>
                <a:schemeClr val="bg1">
                  <a:lumMod val="50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Rectangle 3"/>
          <p:cNvSpPr>
            <a:spLocks noChangeArrowheads="1"/>
          </p:cNvSpPr>
          <p:nvPr userDrawn="1"/>
        </p:nvSpPr>
        <p:spPr bwMode="auto">
          <a:xfrm>
            <a:off x="4618038" y="5365750"/>
            <a:ext cx="5365750" cy="12954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/>
          <a:p>
            <a:pPr algn="ctr" defTabSz="761996">
              <a:lnSpc>
                <a:spcPct val="130000"/>
              </a:lnSpc>
              <a:defRPr/>
            </a:pPr>
            <a:r>
              <a:rPr kumimoji="0" lang="ja-JP" altLang="en-US" sz="1200" dirty="0">
                <a:solidFill>
                  <a:srgbClr val="1D494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本文書は、株式会社エスワイシステムが著作権その他の権利を有する</a:t>
            </a:r>
          </a:p>
          <a:p>
            <a:pPr algn="ctr" defTabSz="761996">
              <a:lnSpc>
                <a:spcPct val="130000"/>
              </a:lnSpc>
              <a:defRPr/>
            </a:pPr>
            <a:r>
              <a:rPr kumimoji="0" lang="ja-JP" altLang="en-US" sz="1200" dirty="0">
                <a:solidFill>
                  <a:srgbClr val="1D494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営業秘密（含サプライヤー等第三者が権利を有するもの）です。</a:t>
            </a:r>
            <a:br>
              <a:rPr kumimoji="0" lang="ja-JP" altLang="en-US" sz="1200" dirty="0">
                <a:solidFill>
                  <a:srgbClr val="1D494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kumimoji="0" lang="ja-JP" altLang="en-US" sz="1200" dirty="0">
                <a:solidFill>
                  <a:srgbClr val="1D494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当社の許可なく複製し利用すること、また漏洩することは</a:t>
            </a:r>
          </a:p>
          <a:p>
            <a:pPr algn="ctr" defTabSz="761996">
              <a:lnSpc>
                <a:spcPct val="130000"/>
              </a:lnSpc>
              <a:defRPr/>
            </a:pPr>
            <a:r>
              <a:rPr kumimoji="0" lang="ja-JP" altLang="en-US" sz="1200" dirty="0">
                <a:solidFill>
                  <a:srgbClr val="1D494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「著作権法」「不正競争防止法」によって禁じられております。</a:t>
            </a:r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5410200" y="4627563"/>
            <a:ext cx="3965575" cy="56038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ja-JP" sz="2400" b="1">
                <a:solidFill>
                  <a:srgbClr val="1D4940"/>
                </a:solidFill>
                <a:latin typeface="Arial Black" pitchFamily="34" charset="0"/>
                <a:ea typeface="+mn-ea"/>
              </a:rPr>
              <a:t>CONFIDENTIAL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F398913-9FE7-0EFD-3025-BAF522CEB8D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94" b="56415"/>
          <a:stretch/>
        </p:blipFill>
        <p:spPr bwMode="auto">
          <a:xfrm>
            <a:off x="659526" y="250383"/>
            <a:ext cx="4629946" cy="1900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gi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5" name="Rectangle 65" descr="Light horizontal"/>
          <p:cNvSpPr>
            <a:spLocks noChangeArrowheads="1"/>
          </p:cNvSpPr>
          <p:nvPr/>
        </p:nvSpPr>
        <p:spPr bwMode="gray">
          <a:xfrm>
            <a:off x="0" y="0"/>
            <a:ext cx="511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51266" name="Rectangle 66"/>
          <p:cNvSpPr>
            <a:spLocks noChangeArrowheads="1"/>
          </p:cNvSpPr>
          <p:nvPr/>
        </p:nvSpPr>
        <p:spPr bwMode="auto">
          <a:xfrm>
            <a:off x="0" y="0"/>
            <a:ext cx="9906000" cy="725488"/>
          </a:xfrm>
          <a:prstGeom prst="rect">
            <a:avLst/>
          </a:prstGeom>
          <a:solidFill>
            <a:srgbClr val="3A5A40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51267" name="AutoShape 67"/>
          <p:cNvSpPr>
            <a:spLocks noChangeArrowheads="1"/>
          </p:cNvSpPr>
          <p:nvPr/>
        </p:nvSpPr>
        <p:spPr bwMode="gray">
          <a:xfrm>
            <a:off x="330199" y="288925"/>
            <a:ext cx="8878968" cy="644525"/>
          </a:xfrm>
          <a:prstGeom prst="roundRect">
            <a:avLst>
              <a:gd name="adj" fmla="val 7472"/>
            </a:avLst>
          </a:prstGeom>
          <a:solidFill>
            <a:srgbClr val="2C6E49"/>
          </a:solidFill>
          <a:ln w="2857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0" lang="ja-JP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066800"/>
            <a:ext cx="89154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11175" y="6611938"/>
            <a:ext cx="863600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 smtClean="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E5421C-94D1-4803-AE4F-1DCF878F46B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30213" y="329669"/>
            <a:ext cx="838835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  <a:endParaRPr lang="en-US" altLang="ja-JP"/>
          </a:p>
        </p:txBody>
      </p:sp>
      <p:pic>
        <p:nvPicPr>
          <p:cNvPr id="1032" name="図 11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9410700" y="141000"/>
            <a:ext cx="293767" cy="46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テキスト ボックス 12"/>
          <p:cNvSpPr txBox="1"/>
          <p:nvPr userDrawn="1"/>
        </p:nvSpPr>
        <p:spPr>
          <a:xfrm>
            <a:off x="6130856" y="6581775"/>
            <a:ext cx="38667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/>
            </a:pPr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Copyright © SYSYSTEM </a:t>
            </a:r>
            <a:r>
              <a:rPr lang="en-US" altLang="ja-JP" sz="1200" dirty="0" err="1">
                <a:solidFill>
                  <a:schemeClr val="bg1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Co.Ltd</a:t>
            </a:r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. All rights reserved.</a:t>
            </a:r>
            <a:endParaRPr lang="ja-JP" altLang="en-US" sz="1200" dirty="0">
              <a:solidFill>
                <a:schemeClr val="bg1">
                  <a:lumMod val="50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5" r:id="rId4"/>
    <p:sldLayoutId id="2147483684" r:id="rId5"/>
    <p:sldLayoutId id="2147483683" r:id="rId6"/>
    <p:sldLayoutId id="2147483682" r:id="rId7"/>
    <p:sldLayoutId id="2147483681" r:id="rId8"/>
    <p:sldLayoutId id="2147483680" r:id="rId9"/>
    <p:sldLayoutId id="2147483679" r:id="rId10"/>
    <p:sldLayoutId id="2147483678" r:id="rId11"/>
    <p:sldLayoutId id="2147483677" r:id="rId12"/>
    <p:sldLayoutId id="2147483676" r:id="rId13"/>
    <p:sldLayoutId id="2147483675" r:id="rId14"/>
    <p:sldLayoutId id="2147483689" r:id="rId1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3600" b="1" kern="1200">
          <a:solidFill>
            <a:srgbClr val="FEFEFE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600" b="1">
          <a:solidFill>
            <a:srgbClr val="FEFEFE"/>
          </a:solidFill>
          <a:latin typeface="Constantia" pitchFamily="18" charset="0"/>
          <a:ea typeface="HG明朝E" pitchFamily="17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3600" b="1">
          <a:solidFill>
            <a:srgbClr val="FEFEFE"/>
          </a:solidFill>
          <a:latin typeface="Constantia" pitchFamily="18" charset="0"/>
          <a:ea typeface="HG明朝E" pitchFamily="17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3600" b="1">
          <a:solidFill>
            <a:srgbClr val="FEFEFE"/>
          </a:solidFill>
          <a:latin typeface="Constantia" pitchFamily="18" charset="0"/>
          <a:ea typeface="HG明朝E" pitchFamily="17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3600" b="1">
          <a:solidFill>
            <a:srgbClr val="FEFEFE"/>
          </a:solidFill>
          <a:latin typeface="Constantia" pitchFamily="18" charset="0"/>
          <a:ea typeface="HG明朝E" pitchFamily="17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FEFEFE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FEFEFE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FEFEFE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rgbClr val="FEFEFE"/>
          </a:solidFill>
          <a:latin typeface="Arial" panose="020B0604020202020204" pitchFamily="34" charset="0"/>
        </a:defRPr>
      </a:lvl9pPr>
    </p:titleStyle>
    <p:bodyStyle>
      <a:lvl1pPr marL="0" indent="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Tx/>
        <a:buNone/>
        <a:defRPr kumimoji="1" sz="2500" kern="1200">
          <a:solidFill>
            <a:srgbClr val="37423D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252413" indent="0" algn="l" rtl="0" fontAlgn="base">
        <a:spcBef>
          <a:spcPct val="20000"/>
        </a:spcBef>
        <a:spcAft>
          <a:spcPct val="0"/>
        </a:spcAft>
        <a:buClr>
          <a:schemeClr val="tx2"/>
        </a:buClr>
        <a:buSzPct val="110000"/>
        <a:buFont typeface="Wingdings" pitchFamily="2" charset="2"/>
        <a:buNone/>
        <a:defRPr kumimoji="1" sz="1800" kern="1200">
          <a:solidFill>
            <a:srgbClr val="37423D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398463" indent="0" algn="l" rtl="0" fontAlgn="base">
        <a:spcBef>
          <a:spcPct val="20000"/>
        </a:spcBef>
        <a:spcAft>
          <a:spcPct val="0"/>
        </a:spcAft>
        <a:buNone/>
        <a:defRPr kumimoji="1" sz="1400" kern="1200">
          <a:solidFill>
            <a:srgbClr val="37423D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579438" indent="0" algn="l" rtl="0" fontAlgn="base">
        <a:spcBef>
          <a:spcPct val="20000"/>
        </a:spcBef>
        <a:spcAft>
          <a:spcPct val="0"/>
        </a:spcAft>
        <a:buSzPct val="50000"/>
        <a:buFont typeface="Wingdings" panose="05000000000000000000" pitchFamily="2" charset="2"/>
        <a:buNone/>
        <a:defRPr kumimoji="1" sz="1200" kern="1200">
          <a:solidFill>
            <a:srgbClr val="37423D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668338" indent="0" algn="l" rtl="0" fontAlgn="base">
        <a:spcBef>
          <a:spcPct val="20000"/>
        </a:spcBef>
        <a:spcAft>
          <a:spcPct val="0"/>
        </a:spcAft>
        <a:buSzPct val="50000"/>
        <a:buFont typeface="Wingdings" panose="05000000000000000000" pitchFamily="2" charset="2"/>
        <a:buNone/>
        <a:defRPr kumimoji="1" sz="1050" kern="1200">
          <a:solidFill>
            <a:srgbClr val="37423D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ED0D1-745E-0FF8-332B-6BA9DD0B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8C0E2A-C213-9BD6-19CD-9F47473C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8388350" cy="500064"/>
          </a:xfrm>
        </p:spPr>
        <p:txBody>
          <a:bodyPr/>
          <a:lstStyle/>
          <a:p>
            <a:pPr algn="l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プロフィールシート</a:t>
            </a:r>
          </a:p>
        </p:txBody>
      </p:sp>
      <p:sp>
        <p:nvSpPr>
          <p:cNvPr id="19" name="スライド番号プレースホルダー 2">
            <a:extLst>
              <a:ext uri="{FF2B5EF4-FFF2-40B4-BE49-F238E27FC236}">
                <a16:creationId xmlns:a16="http://schemas.microsoft.com/office/drawing/2014/main" id="{0ED55ECE-C3B5-3CF3-F7BD-51F7F255D4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510779" y="6611488"/>
            <a:ext cx="864096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EDE85EE5-428C-4BF4-ACED-4C9BA05DC9C5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1</a:t>
            </a:fld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9CD1860-3697-4552-DE75-F34B24B6F2D8}"/>
              </a:ext>
            </a:extLst>
          </p:cNvPr>
          <p:cNvSpPr/>
          <p:nvPr/>
        </p:nvSpPr>
        <p:spPr bwMode="auto">
          <a:xfrm>
            <a:off x="760490" y="3748993"/>
            <a:ext cx="8385019" cy="1650333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216000" rIns="18000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ja-JP" sz="110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1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業務システム向け エージェント型RAGチャットボット（社内データ・文書・Web横断／要件定義〜開発をリード）※進行中</a:t>
            </a:r>
            <a:endParaRPr lang="en-US" altLang="ja-JP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1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AI予約推薦システム：来院履歴からのパーソナライズ予約提案を実現するPoC（設計〜評価をリード）</a:t>
            </a:r>
            <a:endParaRPr lang="en-US" altLang="ja-JP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1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AI音声応答の自動テスト・LLM評価基盤：手動QAを自動化し品質評価を効率化（要件定義〜リリース）</a:t>
            </a:r>
          </a:p>
          <a:p>
            <a:r>
              <a:rPr lang="ja-JP" altLang="en-US" sz="11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社内Webアプリ改修：機能テスト・DB構築・バグ修正を担当</a:t>
            </a:r>
            <a:endParaRPr lang="en-US" altLang="ja-JP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大学・フリーランスにて多数のAI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PoC／ゲームQAを経験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92864B8-418E-9B8B-9EDC-1458CCC730A6}"/>
              </a:ext>
            </a:extLst>
          </p:cNvPr>
          <p:cNvSpPr/>
          <p:nvPr/>
        </p:nvSpPr>
        <p:spPr bwMode="auto">
          <a:xfrm>
            <a:off x="3104300" y="1539261"/>
            <a:ext cx="6041209" cy="188973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2C6E4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180000" rIns="18000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sz="20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ナフィス・イクバル</a:t>
            </a:r>
            <a:endParaRPr lang="en-US" altLang="ja-JP" sz="200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3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AIエンジニア ／ ソフトウェアエンジニア</a:t>
            </a:r>
            <a:endParaRPr lang="en-US" altLang="ja-JP" sz="200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200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43A5D04-575E-C1AE-B457-B29324642D27}"/>
              </a:ext>
            </a:extLst>
          </p:cNvPr>
          <p:cNvSpPr/>
          <p:nvPr/>
        </p:nvSpPr>
        <p:spPr>
          <a:xfrm>
            <a:off x="1627687" y="5539973"/>
            <a:ext cx="7517822" cy="6668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ja-JP" sz="16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8C962CB4-4F41-54F2-8DE6-C3AA4CB1CFE7}"/>
              </a:ext>
            </a:extLst>
          </p:cNvPr>
          <p:cNvSpPr/>
          <p:nvPr/>
        </p:nvSpPr>
        <p:spPr>
          <a:xfrm>
            <a:off x="763591" y="5539972"/>
            <a:ext cx="864096" cy="666807"/>
          </a:xfrm>
          <a:prstGeom prst="homePlate">
            <a:avLst>
              <a:gd name="adj" fmla="val 7944"/>
            </a:avLst>
          </a:prstGeom>
          <a:solidFill>
            <a:srgbClr val="FFB74D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8C89B1C-9EB9-A4D8-427A-5FBF9ED3F465}"/>
              </a:ext>
            </a:extLst>
          </p:cNvPr>
          <p:cNvSpPr txBox="1"/>
          <p:nvPr/>
        </p:nvSpPr>
        <p:spPr>
          <a:xfrm>
            <a:off x="741450" y="5727580"/>
            <a:ext cx="997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POINT</a:t>
            </a:r>
            <a:endParaRPr kumimoji="1" lang="ja-JP" altLang="en-US" sz="16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D38D1BA-395F-B255-14F5-47D49D2BE8B3}"/>
              </a:ext>
            </a:extLst>
          </p:cNvPr>
          <p:cNvSpPr txBox="1"/>
          <p:nvPr/>
        </p:nvSpPr>
        <p:spPr>
          <a:xfrm>
            <a:off x="1649828" y="5605476"/>
            <a:ext cx="7418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ja-JP" sz="160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多様な開発・QA経験を土台に、生成AI・LLMと自動化で要件定義から開発・データ分析まで幅広く対応します。</a:t>
            </a:r>
            <a:endParaRPr kumimoji="1" lang="en-US" altLang="ja-JP" sz="200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B08927A-0514-F8C8-AFF3-6D4C5E820DC5}"/>
              </a:ext>
            </a:extLst>
          </p:cNvPr>
          <p:cNvSpPr/>
          <p:nvPr/>
        </p:nvSpPr>
        <p:spPr bwMode="auto">
          <a:xfrm>
            <a:off x="3246120" y="2395728"/>
            <a:ext cx="963777" cy="384048"/>
          </a:xfrm>
          <a:prstGeom prst="roundRect">
            <a:avLst>
              <a:gd name="adj" fmla="val 2843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6120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#Python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C9A0F47C-DE7A-B4A2-6603-0D2E3A8315FC}"/>
              </a:ext>
            </a:extLst>
          </p:cNvPr>
          <p:cNvSpPr/>
          <p:nvPr/>
        </p:nvSpPr>
        <p:spPr bwMode="auto">
          <a:xfrm>
            <a:off x="4337913" y="2395728"/>
            <a:ext cx="929030" cy="384048"/>
          </a:xfrm>
          <a:prstGeom prst="roundRect">
            <a:avLst>
              <a:gd name="adj" fmla="val 1902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6120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#生成AI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6947E71-099A-2916-0A79-35B72E801CE0}"/>
              </a:ext>
            </a:extLst>
          </p:cNvPr>
          <p:cNvSpPr/>
          <p:nvPr/>
        </p:nvSpPr>
        <p:spPr bwMode="auto">
          <a:xfrm>
            <a:off x="5394960" y="2395728"/>
            <a:ext cx="683971" cy="384048"/>
          </a:xfrm>
          <a:prstGeom prst="roundRect">
            <a:avLst>
              <a:gd name="adj" fmla="val 1902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6120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#LLM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5E71051-3ED5-550E-4D55-33A8BB096A29}"/>
              </a:ext>
            </a:extLst>
          </p:cNvPr>
          <p:cNvSpPr/>
          <p:nvPr/>
        </p:nvSpPr>
        <p:spPr bwMode="auto">
          <a:xfrm>
            <a:off x="840035" y="3510093"/>
            <a:ext cx="2160000" cy="384773"/>
          </a:xfrm>
          <a:prstGeom prst="roundRect">
            <a:avLst>
              <a:gd name="adj" fmla="val 28432"/>
            </a:avLst>
          </a:prstGeom>
          <a:solidFill>
            <a:srgbClr val="2C6E49"/>
          </a:solidFill>
          <a:ln>
            <a:noFill/>
          </a:ln>
          <a:effectLst/>
        </p:spPr>
        <p:txBody>
          <a:bodyPr vert="horz" wrap="square" lIns="91440" tIns="612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対応プロジェクト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A65BADC-205F-E159-D2A9-96B73BBB9D63}"/>
              </a:ext>
            </a:extLst>
          </p:cNvPr>
          <p:cNvSpPr/>
          <p:nvPr/>
        </p:nvSpPr>
        <p:spPr bwMode="auto">
          <a:xfrm>
            <a:off x="7864723" y="1301951"/>
            <a:ext cx="1181950" cy="384773"/>
          </a:xfrm>
          <a:prstGeom prst="roundRect">
            <a:avLst>
              <a:gd name="adj" fmla="val 28432"/>
            </a:avLst>
          </a:prstGeom>
          <a:solidFill>
            <a:srgbClr val="2C6E49"/>
          </a:solidFill>
          <a:ln>
            <a:noFill/>
          </a:ln>
          <a:effectLst/>
        </p:spPr>
        <p:txBody>
          <a:bodyPr vert="horz" wrap="square" lIns="91440" tIns="6120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基本情報</a:t>
            </a:r>
            <a:endParaRPr kumimoji="0" lang="ja-JP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8242C80-4C86-6214-3C51-556F3E27CB43}"/>
              </a:ext>
            </a:extLst>
          </p:cNvPr>
          <p:cNvSpPr/>
          <p:nvPr/>
        </p:nvSpPr>
        <p:spPr bwMode="auto">
          <a:xfrm>
            <a:off x="6206947" y="2395728"/>
            <a:ext cx="1360627" cy="384048"/>
          </a:xfrm>
          <a:prstGeom prst="roundRect">
            <a:avLst>
              <a:gd name="adj" fmla="val 2607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6120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#RAGシステム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四角形: 角を丸くする 6">
            <a:extLst>
              <a:ext uri="{FF2B5EF4-FFF2-40B4-BE49-F238E27FC236}">
                <a16:creationId xmlns:a16="http://schemas.microsoft.com/office/drawing/2014/main" id="{9CDBC853-31DE-444F-A941-614D99B7BA52}"/>
              </a:ext>
            </a:extLst>
          </p:cNvPr>
          <p:cNvSpPr/>
          <p:nvPr/>
        </p:nvSpPr>
        <p:spPr bwMode="auto">
          <a:xfrm>
            <a:off x="3246120" y="2871216"/>
            <a:ext cx="1605686" cy="384048"/>
          </a:xfrm>
          <a:prstGeom prst="roundRect">
            <a:avLst>
              <a:gd name="adj" fmla="val 2607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6120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#AIエージェント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四角形: 角を丸くする 20">
            <a:extLst>
              <a:ext uri="{FF2B5EF4-FFF2-40B4-BE49-F238E27FC236}">
                <a16:creationId xmlns:a16="http://schemas.microsoft.com/office/drawing/2014/main" id="{EFFEFA6E-AA9E-46C8-8071-DE68A202D7FF}"/>
              </a:ext>
            </a:extLst>
          </p:cNvPr>
          <p:cNvSpPr/>
          <p:nvPr/>
        </p:nvSpPr>
        <p:spPr bwMode="auto">
          <a:xfrm>
            <a:off x="4979822" y="2871216"/>
            <a:ext cx="1098194" cy="384048"/>
          </a:xfrm>
          <a:prstGeom prst="roundRect">
            <a:avLst>
              <a:gd name="adj" fmla="val 1902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6120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#QA自動化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四角形: 角を丸くする 16">
            <a:extLst>
              <a:ext uri="{FF2B5EF4-FFF2-40B4-BE49-F238E27FC236}">
                <a16:creationId xmlns:a16="http://schemas.microsoft.com/office/drawing/2014/main" id="{921C7EA3-F4C5-4E01-9F0D-C2684B0DF239}"/>
              </a:ext>
            </a:extLst>
          </p:cNvPr>
          <p:cNvSpPr/>
          <p:nvPr/>
        </p:nvSpPr>
        <p:spPr bwMode="auto">
          <a:xfrm>
            <a:off x="6206032" y="2871216"/>
            <a:ext cx="1249984" cy="384048"/>
          </a:xfrm>
          <a:prstGeom prst="roundRect">
            <a:avLst>
              <a:gd name="adj" fmla="val 2843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6120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#データ分析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四角形: 角を丸くする 22">
            <a:extLst>
              <a:ext uri="{FF2B5EF4-FFF2-40B4-BE49-F238E27FC236}">
                <a16:creationId xmlns:a16="http://schemas.microsoft.com/office/drawing/2014/main" id="{BD610FC9-BE34-48CB-B63C-9E702BA9D483}"/>
              </a:ext>
            </a:extLst>
          </p:cNvPr>
          <p:cNvSpPr/>
          <p:nvPr/>
        </p:nvSpPr>
        <p:spPr bwMode="auto">
          <a:xfrm>
            <a:off x="7584033" y="2871216"/>
            <a:ext cx="963777" cy="384048"/>
          </a:xfrm>
          <a:prstGeom prst="roundRect">
            <a:avLst>
              <a:gd name="adj" fmla="val 1902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6120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#Claude</a:t>
            </a: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8" name="Picture 27" descr="nafis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31" y="1255255"/>
            <a:ext cx="2027607" cy="216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4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FE1CF-1C60-8449-33F4-74E37A0B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タイトル 1">
            <a:extLst>
              <a:ext uri="{FF2B5EF4-FFF2-40B4-BE49-F238E27FC236}">
                <a16:creationId xmlns:a16="http://schemas.microsoft.com/office/drawing/2014/main" id="{304DFB0F-047C-F3C2-8266-DA976EF67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3" y="329670"/>
            <a:ext cx="8388350" cy="504298"/>
          </a:xfrm>
        </p:spPr>
        <p:txBody>
          <a:bodyPr/>
          <a:lstStyle/>
          <a:p>
            <a:pPr algn="l"/>
            <a:r>
              <a:rPr lang="ja-JP" altLang="en-US" dirty="0">
                <a:latin typeface="Meiryo UI"/>
                <a:ea typeface="Meiryo UI"/>
              </a:rPr>
              <a:t>自己紹介・実績・スキル</a:t>
            </a:r>
          </a:p>
        </p:txBody>
      </p:sp>
      <p:sp>
        <p:nvSpPr>
          <p:cNvPr id="37890" name="スライド番号プレースホルダー 2">
            <a:extLst>
              <a:ext uri="{FF2B5EF4-FFF2-40B4-BE49-F238E27FC236}">
                <a16:creationId xmlns:a16="http://schemas.microsoft.com/office/drawing/2014/main" id="{6C7AA8F4-318B-4FBA-E998-E50B3842D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553233-CE81-4749-8224-E67F992346A2}" type="slidenum">
              <a:rPr lang="en-US" altLang="ja-JP">
                <a:latin typeface="Arial" charset="0"/>
                <a:ea typeface="ＭＳ Ｐゴシック" charset="-128"/>
              </a:rPr>
              <a:pPr/>
              <a:t>2</a:t>
            </a:fld>
            <a:endParaRPr lang="en-US" altLang="ja-JP">
              <a:latin typeface="Arial" charset="0"/>
              <a:ea typeface="ＭＳ Ｐゴシック" charset="-128"/>
            </a:endParaRPr>
          </a:p>
        </p:txBody>
      </p:sp>
      <p:sp>
        <p:nvSpPr>
          <p:cNvPr id="37891" name="Rounded Rectangle 37890"/>
          <p:cNvSpPr/>
          <p:nvPr/>
        </p:nvSpPr>
        <p:spPr>
          <a:xfrm>
            <a:off x="548640" y="1188720"/>
            <a:ext cx="8778240" cy="310896"/>
          </a:xfrm>
          <a:prstGeom prst="round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700" bIns="127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自己紹介</a:t>
            </a:r>
          </a:p>
        </p:txBody>
      </p:sp>
      <p:sp>
        <p:nvSpPr>
          <p:cNvPr id="37892" name="TextBox 37891"/>
          <p:cNvSpPr txBox="1"/>
          <p:nvPr/>
        </p:nvSpPr>
        <p:spPr>
          <a:xfrm>
            <a:off x="548640" y="1591056"/>
            <a:ext cx="8778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学でコンピュータサイエンスを専攻後、フリーランスとしてゲームQAやアプリ開発など多様な経験を積みました。データ分析やサイバーセキュリティの知識も有し、顧客調査からの情報抽出やQA業務での活用実績があります。特にAI／ML分野への関心が高く、顔認識やSNS感情分析モデルの構築、PHP現場でのPython自動テストツール開発などを手掛けてきました。現在は生成AI・LLMを活用したチャットボット・予約推薦・AI音声応答の自動テストなど、複数のPoC開発をリードしています。迅速な情報収集による問題解決を得意としています。</a:t>
            </a:r>
          </a:p>
        </p:txBody>
      </p:sp>
      <p:sp>
        <p:nvSpPr>
          <p:cNvPr id="37893" name="Rounded Rectangle 37892"/>
          <p:cNvSpPr/>
          <p:nvPr/>
        </p:nvSpPr>
        <p:spPr>
          <a:xfrm>
            <a:off x="548640" y="3246120"/>
            <a:ext cx="4160520" cy="310896"/>
          </a:xfrm>
          <a:prstGeom prst="round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700" bIns="127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職歴</a:t>
            </a:r>
          </a:p>
        </p:txBody>
      </p:sp>
      <p:sp>
        <p:nvSpPr>
          <p:cNvPr id="37894" name="TextBox 37893"/>
          <p:cNvSpPr txBox="1"/>
          <p:nvPr/>
        </p:nvSpPr>
        <p:spPr>
          <a:xfrm>
            <a:off x="548640" y="363016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株式会社エスワイシステム — AIエンジニア／ソフトウェアエンジニア（2024年10月〜現在）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フリーランス — ゲームQA・ソフトウェアテスト（2022年〜2024年）</a:t>
            </a:r>
          </a:p>
        </p:txBody>
      </p:sp>
      <p:sp>
        <p:nvSpPr>
          <p:cNvPr id="37895" name="Rounded Rectangle 37894"/>
          <p:cNvSpPr/>
          <p:nvPr/>
        </p:nvSpPr>
        <p:spPr>
          <a:xfrm>
            <a:off x="548640" y="4526280"/>
            <a:ext cx="4160520" cy="310896"/>
          </a:xfrm>
          <a:prstGeom prst="round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700" bIns="127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主要スキル</a:t>
            </a:r>
          </a:p>
        </p:txBody>
      </p:sp>
      <p:sp>
        <p:nvSpPr>
          <p:cNvPr id="37896" name="TextBox 37895"/>
          <p:cNvSpPr txBox="1"/>
          <p:nvPr/>
        </p:nvSpPr>
        <p:spPr>
          <a:xfrm>
            <a:off x="548640" y="4910328"/>
            <a:ext cx="4160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生成AI・LLM／RAG／AIエージェント開発（業務）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Python（業務）・プロンプト設計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QA自動化：Selenium／JMeter／Postman（業務）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機能・負荷・ペネトレーションテスト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AWS・Docker・n8n・Twilio・MySQL・データ分析</a:t>
            </a:r>
          </a:p>
        </p:txBody>
      </p:sp>
      <p:sp>
        <p:nvSpPr>
          <p:cNvPr id="37897" name="Rounded Rectangle 37896"/>
          <p:cNvSpPr/>
          <p:nvPr/>
        </p:nvSpPr>
        <p:spPr>
          <a:xfrm>
            <a:off x="5257800" y="3246120"/>
            <a:ext cx="4160520" cy="310896"/>
          </a:xfrm>
          <a:prstGeom prst="round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700" bIns="12700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資格・検定</a:t>
            </a:r>
          </a:p>
        </p:txBody>
      </p:sp>
      <p:sp>
        <p:nvSpPr>
          <p:cNvPr id="37898" name="TextBox 37897"/>
          <p:cNvSpPr txBox="1"/>
          <p:nvPr/>
        </p:nvSpPr>
        <p:spPr>
          <a:xfrm>
            <a:off x="5257800" y="3630168"/>
            <a:ext cx="4160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認定エシカルハッカー（CEH）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Google データアナリティクス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SQA ＆ サイバーセキュリティ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アトラシアン Jira によるアジャイル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Linux Tools for Developers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IELTS（国際英語能力テスト）</a:t>
            </a:r>
          </a:p>
        </p:txBody>
      </p:sp>
      <p:sp>
        <p:nvSpPr>
          <p:cNvPr id="37899" name="Rounded Rectangle 37898"/>
          <p:cNvSpPr/>
          <p:nvPr/>
        </p:nvSpPr>
        <p:spPr>
          <a:xfrm>
            <a:off x="5257800" y="5148072"/>
            <a:ext cx="4160520" cy="310896"/>
          </a:xfrm>
          <a:prstGeom prst="round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700" bIns="12700" rtlCol="0" anchor="ctr"/>
          <a:lstStyle/>
          <a:p>
            <a:pPr algn="l"/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得意分野・その他の実績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7900" name="TextBox 37899"/>
          <p:cNvSpPr txBox="1"/>
          <p:nvPr/>
        </p:nvSpPr>
        <p:spPr>
          <a:xfrm>
            <a:off x="5257800" y="5532120"/>
            <a:ext cx="4160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顔認識・SNS感情分析などAI／MLモデルの構築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PHP現場でのPython自動テストツール開発／顧客調査データの分析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9414838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98C4AC"/>
      </a:accent2>
      <a:accent3>
        <a:srgbClr val="FFFFFF"/>
      </a:accent3>
      <a:accent4>
        <a:srgbClr val="173D35"/>
      </a:accent4>
      <a:accent5>
        <a:srgbClr val="B8CCC3"/>
      </a:accent5>
      <a:accent6>
        <a:srgbClr val="89B19B"/>
      </a:accent6>
      <a:hlink>
        <a:srgbClr val="8CA35F"/>
      </a:hlink>
      <a:folHlink>
        <a:srgbClr val="C1B05D"/>
      </a:folHlink>
    </a:clrScheme>
    <a:fontScheme name="ユーザー定義 1">
      <a:majorFont>
        <a:latin typeface="Constantia"/>
        <a:ea typeface="HG明朝E"/>
        <a:cs typeface=""/>
      </a:majorFont>
      <a:minorFont>
        <a:latin typeface="Franklin Gothic Book"/>
        <a:ea typeface="HGS明朝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Custom Design 1">
        <a:dk1>
          <a:srgbClr val="1D4940"/>
        </a:dk1>
        <a:lt1>
          <a:srgbClr val="FFFFFF"/>
        </a:lt1>
        <a:dk2>
          <a:srgbClr val="3F716F"/>
        </a:dk2>
        <a:lt2>
          <a:srgbClr val="C0C0C0"/>
        </a:lt2>
        <a:accent1>
          <a:srgbClr val="669E86"/>
        </a:accent1>
        <a:accent2>
          <a:srgbClr val="98C4AC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89B19B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E5D70"/>
        </a:dk1>
        <a:lt1>
          <a:srgbClr val="FFFFFF"/>
        </a:lt1>
        <a:dk2>
          <a:srgbClr val="333300"/>
        </a:dk2>
        <a:lt2>
          <a:srgbClr val="969696"/>
        </a:lt2>
        <a:accent1>
          <a:srgbClr val="DDB905"/>
        </a:accent1>
        <a:accent2>
          <a:srgbClr val="6BA919"/>
        </a:accent2>
        <a:accent3>
          <a:srgbClr val="FFFFFF"/>
        </a:accent3>
        <a:accent4>
          <a:srgbClr val="0A4E5F"/>
        </a:accent4>
        <a:accent5>
          <a:srgbClr val="EBD9AA"/>
        </a:accent5>
        <a:accent6>
          <a:srgbClr val="609916"/>
        </a:accent6>
        <a:hlink>
          <a:srgbClr val="DA8200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93575"/>
        </a:dk1>
        <a:lt1>
          <a:srgbClr val="FFFFFF"/>
        </a:lt1>
        <a:dk2>
          <a:srgbClr val="000066"/>
        </a:dk2>
        <a:lt2>
          <a:srgbClr val="808080"/>
        </a:lt2>
        <a:accent1>
          <a:srgbClr val="4B92E1"/>
        </a:accent1>
        <a:accent2>
          <a:srgbClr val="99CCFF"/>
        </a:accent2>
        <a:accent3>
          <a:srgbClr val="FFFFFF"/>
        </a:accent3>
        <a:accent4>
          <a:srgbClr val="062C63"/>
        </a:accent4>
        <a:accent5>
          <a:srgbClr val="B1C7EE"/>
        </a:accent5>
        <a:accent6>
          <a:srgbClr val="8AB9E7"/>
        </a:accent6>
        <a:hlink>
          <a:srgbClr val="0066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1357</TotalTime>
  <Words>447</Words>
  <Application>Microsoft Office PowerPoint</Application>
  <PresentationFormat>A4 Paper (210x297 mm)</PresentationFormat>
  <Paragraphs>46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Meiryo UI</vt:lpstr>
      <vt:lpstr>メイリオ</vt:lpstr>
      <vt:lpstr>游ゴシック</vt:lpstr>
      <vt:lpstr>Arial</vt:lpstr>
      <vt:lpstr>Arial Black</vt:lpstr>
      <vt:lpstr>Calibri</vt:lpstr>
      <vt:lpstr>Constantia</vt:lpstr>
      <vt:lpstr>Wingdings</vt:lpstr>
      <vt:lpstr>Custom Design</vt:lpstr>
      <vt:lpstr>プロフィールシート</vt:lpstr>
      <vt:lpstr>自己紹介・実績・スキル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プロフィールシートガイド</dc:title>
  <dc:creator>Yoshikawa</dc:creator>
  <cp:lastModifiedBy>ナフィス　イクバル</cp:lastModifiedBy>
  <cp:revision>629</cp:revision>
  <cp:lastPrinted>2024-10-30T10:19:06Z</cp:lastPrinted>
  <dcterms:created xsi:type="dcterms:W3CDTF">2014-08-11T12:04:42Z</dcterms:created>
  <dcterms:modified xsi:type="dcterms:W3CDTF">2026-07-06T10:11:12Z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4158777</vt:lpwstr>
  </property>
  <property fmtid="{D5CDD505-2E9C-101B-9397-08002B2CF9AE}" pid="3" name="NXPowerLiteVersion">
    <vt:lpwstr>D4.1.4</vt:lpwstr>
  </property>
</Properties>
</file>